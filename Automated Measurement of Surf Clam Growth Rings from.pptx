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57" r:id="rId6"/>
    <p:sldId id="258" r:id="rId7"/>
    <p:sldId id="259" r:id="rId8"/>
    <p:sldId id="260" r:id="rId9"/>
    <p:sldId id="262" r:id="rId10"/>
    <p:sldId id="261" r:id="rId11"/>
    <p:sldId id="263" r:id="rId12"/>
    <p:sldId id="264" r:id="rId13"/>
    <p:sldId id="270" r:id="rId14"/>
    <p:sldId id="269" r:id="rId15"/>
    <p:sldId id="265" r:id="rId16"/>
    <p:sldId id="268"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472" autoAdjust="0"/>
  </p:normalViewPr>
  <p:slideViewPr>
    <p:cSldViewPr snapToGrid="0">
      <p:cViewPr>
        <p:scale>
          <a:sx n="150" d="100"/>
          <a:sy n="150" d="100"/>
        </p:scale>
        <p:origin x="70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3F9A5-A349-4834-AC11-D2611C83B55B}"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CB293-9C81-48F1-805D-9C3F85D84CE1}" type="slidenum">
              <a:rPr lang="en-US" smtClean="0"/>
              <a:t>‹#›</a:t>
            </a:fld>
            <a:endParaRPr lang="en-US"/>
          </a:p>
        </p:txBody>
      </p:sp>
    </p:spTree>
    <p:extLst>
      <p:ext uri="{BB962C8B-B14F-4D97-AF65-F5344CB8AC3E}">
        <p14:creationId xmlns:p14="http://schemas.microsoft.com/office/powerpoint/2010/main" val="312248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Surf clam shells have visible growth rings, and these rings record how the animal grew over time. </a:t>
            </a:r>
            <a:r>
              <a:rPr lang="en-US" altLang="zh-CN" dirty="0"/>
              <a:t>Each ring is for one year. </a:t>
            </a:r>
            <a:r>
              <a:rPr lang="en-US" dirty="0"/>
              <a:t>When the spacing between rings is wide, it means the shell grew fast, usually under favorable conditions. When the spacing is narrow, growth was slow, which can indicate stress or a tough environment. So the spacing itself carries biological meaning.</a:t>
            </a:r>
          </a:p>
        </p:txBody>
      </p:sp>
      <p:sp>
        <p:nvSpPr>
          <p:cNvPr id="4" name="Slide Number Placeholder 3"/>
          <p:cNvSpPr>
            <a:spLocks noGrp="1"/>
          </p:cNvSpPr>
          <p:nvPr>
            <p:ph type="sldNum" sz="quarter" idx="5"/>
          </p:nvPr>
        </p:nvSpPr>
        <p:spPr/>
        <p:txBody>
          <a:bodyPr/>
          <a:lstStyle/>
          <a:p>
            <a:fld id="{AFECB293-9C81-48F1-805D-9C3F85D84CE1}" type="slidenum">
              <a:rPr lang="en-US" smtClean="0"/>
              <a:t>2</a:t>
            </a:fld>
            <a:endParaRPr lang="en-US"/>
          </a:p>
        </p:txBody>
      </p:sp>
    </p:spTree>
    <p:extLst>
      <p:ext uri="{BB962C8B-B14F-4D97-AF65-F5344CB8AC3E}">
        <p14:creationId xmlns:p14="http://schemas.microsoft.com/office/powerpoint/2010/main" val="393943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this is done by hand. Manual measurement is accurate and reliable, but it's slow and hard to scale to a lot of shells. So our goal is to use computer vision to automate both the ring counting and the spacing measurement.</a:t>
            </a:r>
          </a:p>
        </p:txBody>
      </p:sp>
      <p:sp>
        <p:nvSpPr>
          <p:cNvPr id="4" name="Slide Number Placeholder 3"/>
          <p:cNvSpPr>
            <a:spLocks noGrp="1"/>
          </p:cNvSpPr>
          <p:nvPr>
            <p:ph type="sldNum" sz="quarter" idx="5"/>
          </p:nvPr>
        </p:nvSpPr>
        <p:spPr/>
        <p:txBody>
          <a:bodyPr/>
          <a:lstStyle/>
          <a:p>
            <a:fld id="{AFECB293-9C81-48F1-805D-9C3F85D84CE1}" type="slidenum">
              <a:rPr lang="en-US" smtClean="0"/>
              <a:t>3</a:t>
            </a:fld>
            <a:endParaRPr lang="en-US"/>
          </a:p>
        </p:txBody>
      </p:sp>
    </p:spTree>
    <p:extLst>
      <p:ext uri="{BB962C8B-B14F-4D97-AF65-F5344CB8AC3E}">
        <p14:creationId xmlns:p14="http://schemas.microsoft.com/office/powerpoint/2010/main" val="317884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data, we have more than 500 shell images Now, collected across several years from 1986 up to 2016. Each labeled image comes with a sequence of growth increments — I-one, I-two, and so on — where each value is the distance between two adjacent rings. So the labels give us spacing, not the exact ring coordinates. We also have a pixel-to-millimeter conversion, so the measurements can be turned into real distances.</a:t>
            </a:r>
          </a:p>
        </p:txBody>
      </p:sp>
      <p:sp>
        <p:nvSpPr>
          <p:cNvPr id="4" name="Slide Number Placeholder 3"/>
          <p:cNvSpPr>
            <a:spLocks noGrp="1"/>
          </p:cNvSpPr>
          <p:nvPr>
            <p:ph type="sldNum" sz="quarter" idx="5"/>
          </p:nvPr>
        </p:nvSpPr>
        <p:spPr/>
        <p:txBody>
          <a:bodyPr/>
          <a:lstStyle/>
          <a:p>
            <a:fld id="{AFECB293-9C81-48F1-805D-9C3F85D84CE1}" type="slidenum">
              <a:rPr lang="en-US" smtClean="0"/>
              <a:t>4</a:t>
            </a:fld>
            <a:endParaRPr lang="en-US"/>
          </a:p>
        </p:txBody>
      </p:sp>
    </p:spTree>
    <p:extLst>
      <p:ext uri="{BB962C8B-B14F-4D97-AF65-F5344CB8AC3E}">
        <p14:creationId xmlns:p14="http://schemas.microsoft.com/office/powerpoint/2010/main" val="764484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tricky part is that the labels don't tell us where the rings actually are in the image. I don't know the start point or the exact path used to measure. From my tests, the spacing seems to follow a curved path along the shell edge, and the biological order runs from the hinge to the tail. So your first challenge is just aligning these numbers with the right path and direction on the image.</a:t>
            </a:r>
          </a:p>
        </p:txBody>
      </p:sp>
      <p:sp>
        <p:nvSpPr>
          <p:cNvPr id="4" name="Slide Number Placeholder 3"/>
          <p:cNvSpPr>
            <a:spLocks noGrp="1"/>
          </p:cNvSpPr>
          <p:nvPr>
            <p:ph type="sldNum" sz="quarter" idx="5"/>
          </p:nvPr>
        </p:nvSpPr>
        <p:spPr/>
        <p:txBody>
          <a:bodyPr/>
          <a:lstStyle/>
          <a:p>
            <a:fld id="{AFECB293-9C81-48F1-805D-9C3F85D84CE1}" type="slidenum">
              <a:rPr lang="en-US" smtClean="0"/>
              <a:t>5</a:t>
            </a:fld>
            <a:endParaRPr lang="en-US"/>
          </a:p>
        </p:txBody>
      </p:sp>
    </p:spTree>
    <p:extLst>
      <p:ext uri="{BB962C8B-B14F-4D97-AF65-F5344CB8AC3E}">
        <p14:creationId xmlns:p14="http://schemas.microsoft.com/office/powerpoint/2010/main" val="1003663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challenge is data. We only have a small number of labeled images, which isn't enough to train a dedicated deep learning model. So instead, the method has to read the ring patterns from visual cues directly — things like texture, contrast, and shell structure — without learning from a big labeled set.</a:t>
            </a:r>
          </a:p>
        </p:txBody>
      </p:sp>
      <p:sp>
        <p:nvSpPr>
          <p:cNvPr id="4" name="Slide Number Placeholder 3"/>
          <p:cNvSpPr>
            <a:spLocks noGrp="1"/>
          </p:cNvSpPr>
          <p:nvPr>
            <p:ph type="sldNum" sz="quarter" idx="5"/>
          </p:nvPr>
        </p:nvSpPr>
        <p:spPr/>
        <p:txBody>
          <a:bodyPr/>
          <a:lstStyle/>
          <a:p>
            <a:fld id="{AFECB293-9C81-48F1-805D-9C3F85D84CE1}" type="slidenum">
              <a:rPr lang="en-US" smtClean="0"/>
              <a:t>6</a:t>
            </a:fld>
            <a:endParaRPr lang="en-US"/>
          </a:p>
        </p:txBody>
      </p:sp>
    </p:spTree>
    <p:extLst>
      <p:ext uri="{BB962C8B-B14F-4D97-AF65-F5344CB8AC3E}">
        <p14:creationId xmlns:p14="http://schemas.microsoft.com/office/powerpoint/2010/main" val="1135191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challenge is the images themselves. Rings get very dense near the hinge. There are large black background areas. And ring visibility is inconsistent — some are dark and clear, others are very unclear On top of that, there are fake rings, weak rings, and cracks, which all make detection harder.</a:t>
            </a:r>
          </a:p>
        </p:txBody>
      </p:sp>
      <p:sp>
        <p:nvSpPr>
          <p:cNvPr id="4" name="Slide Number Placeholder 3"/>
          <p:cNvSpPr>
            <a:spLocks noGrp="1"/>
          </p:cNvSpPr>
          <p:nvPr>
            <p:ph type="sldNum" sz="quarter" idx="5"/>
          </p:nvPr>
        </p:nvSpPr>
        <p:spPr/>
        <p:txBody>
          <a:bodyPr/>
          <a:lstStyle/>
          <a:p>
            <a:fld id="{AFECB293-9C81-48F1-805D-9C3F85D84CE1}" type="slidenum">
              <a:rPr lang="en-US" smtClean="0"/>
              <a:t>7</a:t>
            </a:fld>
            <a:endParaRPr lang="en-US"/>
          </a:p>
        </p:txBody>
      </p:sp>
    </p:spTree>
    <p:extLst>
      <p:ext uri="{BB962C8B-B14F-4D97-AF65-F5344CB8AC3E}">
        <p14:creationId xmlns:p14="http://schemas.microsoft.com/office/powerpoint/2010/main" val="188181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I'm using now, and it doesn't need any training. First I segment the shell region with </a:t>
            </a:r>
            <a:r>
              <a:rPr lang="en-US" dirty="0" err="1"/>
              <a:t>FastSAM</a:t>
            </a:r>
            <a:r>
              <a:rPr lang="en-US" dirty="0"/>
              <a:t>. Then I enhance the rings using grayscale conversion and CLAHE. I define a measurement path manually and turn the image into a 1D signal by reading gray values along that curve. I smooth it with a Gaussian filter, and finally detect the rings as valleys in that signal using </a:t>
            </a:r>
            <a:r>
              <a:rPr lang="en-US" dirty="0" err="1"/>
              <a:t>find_peaks</a:t>
            </a:r>
            <a:r>
              <a:rPr lang="en-US" dirty="0"/>
              <a:t>.</a:t>
            </a:r>
          </a:p>
        </p:txBody>
      </p:sp>
      <p:sp>
        <p:nvSpPr>
          <p:cNvPr id="4" name="Slide Number Placeholder 3"/>
          <p:cNvSpPr>
            <a:spLocks noGrp="1"/>
          </p:cNvSpPr>
          <p:nvPr>
            <p:ph type="sldNum" sz="quarter" idx="5"/>
          </p:nvPr>
        </p:nvSpPr>
        <p:spPr/>
        <p:txBody>
          <a:bodyPr/>
          <a:lstStyle/>
          <a:p>
            <a:fld id="{AFECB293-9C81-48F1-805D-9C3F85D84CE1}" type="slidenum">
              <a:rPr lang="en-US" smtClean="0"/>
              <a:t>8</a:t>
            </a:fld>
            <a:endParaRPr lang="en-US"/>
          </a:p>
        </p:txBody>
      </p:sp>
    </p:spTree>
    <p:extLst>
      <p:ext uri="{BB962C8B-B14F-4D97-AF65-F5344CB8AC3E}">
        <p14:creationId xmlns:p14="http://schemas.microsoft.com/office/powerpoint/2010/main" val="815466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result. The cyan curve is the measurement path along the shell, and the red dots are the detected rings — fifteen here. The bottom plot is the 1D gray-value profile along that path, where each dark valley corresponds to a ring. You can see it works well where the rings are clear.</a:t>
            </a:r>
          </a:p>
        </p:txBody>
      </p:sp>
      <p:sp>
        <p:nvSpPr>
          <p:cNvPr id="4" name="Slide Number Placeholder 3"/>
          <p:cNvSpPr>
            <a:spLocks noGrp="1"/>
          </p:cNvSpPr>
          <p:nvPr>
            <p:ph type="sldNum" sz="quarter" idx="5"/>
          </p:nvPr>
        </p:nvSpPr>
        <p:spPr/>
        <p:txBody>
          <a:bodyPr/>
          <a:lstStyle/>
          <a:p>
            <a:fld id="{AFECB293-9C81-48F1-805D-9C3F85D84CE1}" type="slidenum">
              <a:rPr lang="en-US" smtClean="0"/>
              <a:t>9</a:t>
            </a:fld>
            <a:endParaRPr lang="en-US"/>
          </a:p>
        </p:txBody>
      </p:sp>
    </p:spTree>
    <p:extLst>
      <p:ext uri="{BB962C8B-B14F-4D97-AF65-F5344CB8AC3E}">
        <p14:creationId xmlns:p14="http://schemas.microsoft.com/office/powerpoint/2010/main" val="3941626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3728-F963-C1CF-8C39-2DEEE365E9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85C6C0-F4BE-36CA-B11A-19A05F0A1A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09321D-3BDE-CCCF-0866-DAA0507E15B5}"/>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5" name="Footer Placeholder 4">
            <a:extLst>
              <a:ext uri="{FF2B5EF4-FFF2-40B4-BE49-F238E27FC236}">
                <a16:creationId xmlns:a16="http://schemas.microsoft.com/office/drawing/2014/main" id="{8BAF798C-7528-A652-C8B0-19957D285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5C01A2-920B-C503-6827-D3E52B9C0952}"/>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072793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87E47-BF16-12E0-37E4-D9227F4332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DEB2F-9AA0-D7B7-0717-5F5428DFCF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FF69CE-D515-6A75-0F5A-5EA36BE0F27B}"/>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5" name="Footer Placeholder 4">
            <a:extLst>
              <a:ext uri="{FF2B5EF4-FFF2-40B4-BE49-F238E27FC236}">
                <a16:creationId xmlns:a16="http://schemas.microsoft.com/office/drawing/2014/main" id="{FB529304-401A-F17D-CCD3-D96AFC205B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C0F03-414B-136B-AA5C-D08692375E1E}"/>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1366944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BBE8-71D4-E996-F378-D3416C5CE5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E8BCED-D3D9-164E-E9BE-C1738DBD4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08B54E-59FD-63A1-1BEE-0BF60388690F}"/>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5" name="Footer Placeholder 4">
            <a:extLst>
              <a:ext uri="{FF2B5EF4-FFF2-40B4-BE49-F238E27FC236}">
                <a16:creationId xmlns:a16="http://schemas.microsoft.com/office/drawing/2014/main" id="{E0199AB6-C50F-908D-AD6A-159CC928B1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1BC2D6-9BF8-4C1D-1284-7EBA1541FC68}"/>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3686930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B908-CA9B-85D6-98E7-41F1B81D58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28AE92-18F2-6C2B-21FC-0A62B76CFF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1DA529-5658-AB22-B02D-3440081504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1E50E5-D8CA-BE0D-9D6D-86A8F9D1B7CE}"/>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6" name="Footer Placeholder 5">
            <a:extLst>
              <a:ext uri="{FF2B5EF4-FFF2-40B4-BE49-F238E27FC236}">
                <a16:creationId xmlns:a16="http://schemas.microsoft.com/office/drawing/2014/main" id="{BE34B094-DD73-C203-8E3B-05C7DFF5D0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FA293-F3BC-5150-359E-3FDBBD243DEA}"/>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395023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1921-17B3-1D13-7D16-6024BF852F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7573C4-BB31-260A-76AB-94ABFDC56C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07FB85-BD7B-C349-1379-76FD246C79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7F7B3E-6D1D-73EB-D3B3-68ED03238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62B0AA-18AA-4212-8B72-FD7C9E835F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84A9D8-FD09-E91D-BE4E-EF99B7859C40}"/>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8" name="Footer Placeholder 7">
            <a:extLst>
              <a:ext uri="{FF2B5EF4-FFF2-40B4-BE49-F238E27FC236}">
                <a16:creationId xmlns:a16="http://schemas.microsoft.com/office/drawing/2014/main" id="{A6FA9F6E-69EA-4D5D-E978-9576C6FB93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7F3398-0BAF-3758-555F-2EE2408ADD5A}"/>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142718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CFCB8-189E-9036-B2A9-E9A43D19CC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1551E1-0809-EF1F-A801-7982B51975B8}"/>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4" name="Footer Placeholder 3">
            <a:extLst>
              <a:ext uri="{FF2B5EF4-FFF2-40B4-BE49-F238E27FC236}">
                <a16:creationId xmlns:a16="http://schemas.microsoft.com/office/drawing/2014/main" id="{C28FED5F-038A-72D2-02CF-9EBFB2A0DF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66AD70-BFE3-4370-F61E-B147C4312381}"/>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216659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0F2218-DBCA-3BB7-270B-B815EC043DF9}"/>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3" name="Footer Placeholder 2">
            <a:extLst>
              <a:ext uri="{FF2B5EF4-FFF2-40B4-BE49-F238E27FC236}">
                <a16:creationId xmlns:a16="http://schemas.microsoft.com/office/drawing/2014/main" id="{E5FE5FEE-9299-29F0-D89B-E96053C229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FB8F4E-48B5-05BB-437E-F273A6FD0929}"/>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998500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F1813-163E-24F2-F171-5C5DB51E06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1C1DC6-AB5A-6A12-AD63-1F25D68D60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20444C-13BB-8144-7194-CC745DD893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26C36E-E8D3-7DA8-FB70-77921AEA2128}"/>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6" name="Footer Placeholder 5">
            <a:extLst>
              <a:ext uri="{FF2B5EF4-FFF2-40B4-BE49-F238E27FC236}">
                <a16:creationId xmlns:a16="http://schemas.microsoft.com/office/drawing/2014/main" id="{2B2DF75C-0F43-3FA4-A6C0-CBD8854F8B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41E9E6-9264-AEC1-3300-1A63065D8CE9}"/>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750410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9C15-E2C8-4858-9C15-EF5865D6BD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CFF45A-37F9-41BD-D259-58FA18E01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507B46-976A-8C83-9C8D-41A0645B5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1C8CEF-73CD-12E6-5B8E-D2F3E417B98B}"/>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6" name="Footer Placeholder 5">
            <a:extLst>
              <a:ext uri="{FF2B5EF4-FFF2-40B4-BE49-F238E27FC236}">
                <a16:creationId xmlns:a16="http://schemas.microsoft.com/office/drawing/2014/main" id="{228F61C1-DA78-6915-84E4-5306B07116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C4D877-E896-5C30-C34A-35164EF45828}"/>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050415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5EDDE-BA40-740F-D201-01B0B918D8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382D5D-7BC8-9B50-99E8-F942CFEE6F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5FD5FC-EC8C-B265-547B-2CC9507B5C8A}"/>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5" name="Footer Placeholder 4">
            <a:extLst>
              <a:ext uri="{FF2B5EF4-FFF2-40B4-BE49-F238E27FC236}">
                <a16:creationId xmlns:a16="http://schemas.microsoft.com/office/drawing/2014/main" id="{A93D9A69-5B9A-DCD3-3FA2-519282919C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6B33D-8913-6253-30A3-CD239DE2B74E}"/>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2096363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75F47F-B2C7-58F3-4854-277A65418C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6B89EF-0420-205D-5761-E455CD1DE1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BFF179-6073-BAB6-B52A-09EBE43F2113}"/>
              </a:ext>
            </a:extLst>
          </p:cNvPr>
          <p:cNvSpPr>
            <a:spLocks noGrp="1"/>
          </p:cNvSpPr>
          <p:nvPr>
            <p:ph type="dt" sz="half" idx="10"/>
          </p:nvPr>
        </p:nvSpPr>
        <p:spPr/>
        <p:txBody>
          <a:bodyPr/>
          <a:lstStyle/>
          <a:p>
            <a:fld id="{744AF9BC-AB75-4092-B3EF-B571AEDE47DB}" type="datetimeFigureOut">
              <a:rPr lang="en-US" smtClean="0"/>
              <a:t>5/29/2026</a:t>
            </a:fld>
            <a:endParaRPr lang="en-US"/>
          </a:p>
        </p:txBody>
      </p:sp>
      <p:sp>
        <p:nvSpPr>
          <p:cNvPr id="5" name="Footer Placeholder 4">
            <a:extLst>
              <a:ext uri="{FF2B5EF4-FFF2-40B4-BE49-F238E27FC236}">
                <a16:creationId xmlns:a16="http://schemas.microsoft.com/office/drawing/2014/main" id="{6D9E231F-79BE-BD60-A1B3-622931DA46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C2164D-6A9E-BD42-2567-B991BBF4B8B9}"/>
              </a:ext>
            </a:extLst>
          </p:cNvPr>
          <p:cNvSpPr>
            <a:spLocks noGrp="1"/>
          </p:cNvSpPr>
          <p:nvPr>
            <p:ph type="sldNum" sz="quarter" idx="12"/>
          </p:nvPr>
        </p:nvSpPr>
        <p:spPr/>
        <p:txBody>
          <a:bodyPr/>
          <a:lstStyle/>
          <a:p>
            <a:fld id="{0400875B-CB7F-4904-855A-5CC887A8C2A6}" type="slidenum">
              <a:rPr lang="en-US" smtClean="0"/>
              <a:t>‹#›</a:t>
            </a:fld>
            <a:endParaRPr lang="en-US"/>
          </a:p>
        </p:txBody>
      </p:sp>
    </p:spTree>
    <p:extLst>
      <p:ext uri="{BB962C8B-B14F-4D97-AF65-F5344CB8AC3E}">
        <p14:creationId xmlns:p14="http://schemas.microsoft.com/office/powerpoint/2010/main" val="3923556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F3AF2B-2895-6EE2-C214-7AF3F3E57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71E0FB-5634-93BC-CFE2-D8619BBE5A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611580-19BF-731F-78D1-C0DD8C46A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AF9BC-AB75-4092-B3EF-B571AEDE47DB}" type="datetimeFigureOut">
              <a:rPr lang="en-US" smtClean="0"/>
              <a:t>5/29/2026</a:t>
            </a:fld>
            <a:endParaRPr lang="en-US"/>
          </a:p>
        </p:txBody>
      </p:sp>
      <p:sp>
        <p:nvSpPr>
          <p:cNvPr id="5" name="Footer Placeholder 4">
            <a:extLst>
              <a:ext uri="{FF2B5EF4-FFF2-40B4-BE49-F238E27FC236}">
                <a16:creationId xmlns:a16="http://schemas.microsoft.com/office/drawing/2014/main" id="{70D7B31B-2767-E816-D6C4-F0F18F1568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A25759-75BD-88D8-6130-DC1C5117F4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00875B-CB7F-4904-855A-5CC887A8C2A6}" type="slidenum">
              <a:rPr lang="en-US" smtClean="0"/>
              <a:t>‹#›</a:t>
            </a:fld>
            <a:endParaRPr lang="en-US"/>
          </a:p>
        </p:txBody>
      </p:sp>
    </p:spTree>
    <p:extLst>
      <p:ext uri="{BB962C8B-B14F-4D97-AF65-F5344CB8AC3E}">
        <p14:creationId xmlns:p14="http://schemas.microsoft.com/office/powerpoint/2010/main" val="1433582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DC05-CDBC-F88D-2D4D-5DAF49EAB03D}"/>
              </a:ext>
            </a:extLst>
          </p:cNvPr>
          <p:cNvSpPr>
            <a:spLocks noGrp="1"/>
          </p:cNvSpPr>
          <p:nvPr>
            <p:ph type="ctrTitle"/>
          </p:nvPr>
        </p:nvSpPr>
        <p:spPr/>
        <p:txBody>
          <a:bodyPr>
            <a:normAutofit fontScale="90000"/>
          </a:bodyPr>
          <a:lstStyle/>
          <a:p>
            <a:r>
              <a:rPr lang="en-US" dirty="0"/>
              <a:t>Automated Measurement of Surf Clam Growth Rings from Shell Images</a:t>
            </a:r>
          </a:p>
        </p:txBody>
      </p:sp>
      <p:sp>
        <p:nvSpPr>
          <p:cNvPr id="3" name="Subtitle 2">
            <a:extLst>
              <a:ext uri="{FF2B5EF4-FFF2-40B4-BE49-F238E27FC236}">
                <a16:creationId xmlns:a16="http://schemas.microsoft.com/office/drawing/2014/main" id="{DFF46692-01E6-A6E9-FB2F-C0C3EBAC9420}"/>
              </a:ext>
            </a:extLst>
          </p:cNvPr>
          <p:cNvSpPr>
            <a:spLocks noGrp="1"/>
          </p:cNvSpPr>
          <p:nvPr>
            <p:ph type="subTitle" idx="1"/>
          </p:nvPr>
        </p:nvSpPr>
        <p:spPr/>
        <p:txBody>
          <a:bodyPr/>
          <a:lstStyle/>
          <a:p>
            <a:endParaRPr lang="en-US" dirty="0"/>
          </a:p>
          <a:p>
            <a:r>
              <a:rPr lang="en-US" dirty="0"/>
              <a:t>H</a:t>
            </a:r>
            <a:r>
              <a:rPr lang="en-US" altLang="zh-CN" dirty="0"/>
              <a:t>eng Lian</a:t>
            </a:r>
          </a:p>
          <a:p>
            <a:r>
              <a:rPr lang="en-US" dirty="0"/>
              <a:t>05/28/2026</a:t>
            </a:r>
          </a:p>
        </p:txBody>
      </p:sp>
    </p:spTree>
    <p:extLst>
      <p:ext uri="{BB962C8B-B14F-4D97-AF65-F5344CB8AC3E}">
        <p14:creationId xmlns:p14="http://schemas.microsoft.com/office/powerpoint/2010/main" val="2165532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39A7-F9F8-872D-863B-1A48F28AC57D}"/>
              </a:ext>
            </a:extLst>
          </p:cNvPr>
          <p:cNvSpPr>
            <a:spLocks noGrp="1"/>
          </p:cNvSpPr>
          <p:nvPr>
            <p:ph type="title"/>
          </p:nvPr>
        </p:nvSpPr>
        <p:spPr/>
        <p:txBody>
          <a:bodyPr/>
          <a:lstStyle/>
          <a:p>
            <a:r>
              <a:rPr lang="en-US" dirty="0"/>
              <a:t>Surf Clam Growth Rings Record Growth History</a:t>
            </a:r>
          </a:p>
        </p:txBody>
      </p:sp>
      <p:sp>
        <p:nvSpPr>
          <p:cNvPr id="3" name="Content Placeholder 2">
            <a:extLst>
              <a:ext uri="{FF2B5EF4-FFF2-40B4-BE49-F238E27FC236}">
                <a16:creationId xmlns:a16="http://schemas.microsoft.com/office/drawing/2014/main" id="{2E7D3DF9-3168-B380-23C1-88C21A9B4B3B}"/>
              </a:ext>
            </a:extLst>
          </p:cNvPr>
          <p:cNvSpPr>
            <a:spLocks noGrp="1"/>
          </p:cNvSpPr>
          <p:nvPr>
            <p:ph idx="1"/>
          </p:nvPr>
        </p:nvSpPr>
        <p:spPr/>
        <p:txBody>
          <a:bodyPr>
            <a:normAutofit lnSpcReduction="10000"/>
          </a:bodyPr>
          <a:lstStyle/>
          <a:p>
            <a:pPr>
              <a:buFont typeface="Wingdings" panose="05000000000000000000" pitchFamily="2" charset="2"/>
              <a:buChar char="v"/>
            </a:pPr>
            <a:r>
              <a:rPr lang="en-US" dirty="0"/>
              <a:t>Surf clam shells contain visible growth rings that preserve the animal’s growth history over time.</a:t>
            </a:r>
          </a:p>
          <a:p>
            <a:pPr>
              <a:buFont typeface="Wingdings" panose="05000000000000000000" pitchFamily="2" charset="2"/>
              <a:buChar char="v"/>
            </a:pPr>
            <a:endParaRPr lang="en-US" dirty="0"/>
          </a:p>
          <a:p>
            <a:pPr>
              <a:buFont typeface="Wingdings" panose="05000000000000000000" pitchFamily="2" charset="2"/>
              <a:buChar char="v"/>
            </a:pPr>
            <a:r>
              <a:rPr lang="en-US" b="1" dirty="0"/>
              <a:t>Wide spacing between rings</a:t>
            </a:r>
            <a:br>
              <a:rPr lang="en-US" dirty="0"/>
            </a:br>
            <a:r>
              <a:rPr lang="en-US" dirty="0"/>
              <a:t>→ faster shell growth</a:t>
            </a:r>
            <a:br>
              <a:rPr lang="en-US" dirty="0"/>
            </a:br>
            <a:r>
              <a:rPr lang="en-US" dirty="0"/>
              <a:t>→ potentially favorable conditions</a:t>
            </a:r>
          </a:p>
          <a:p>
            <a:pPr>
              <a:buFont typeface="Wingdings" panose="05000000000000000000" pitchFamily="2" charset="2"/>
              <a:buChar char="v"/>
            </a:pPr>
            <a:endParaRPr lang="en-US" dirty="0"/>
          </a:p>
          <a:p>
            <a:pPr>
              <a:buFont typeface="Wingdings" panose="05000000000000000000" pitchFamily="2" charset="2"/>
              <a:buChar char="v"/>
            </a:pPr>
            <a:r>
              <a:rPr lang="en-US" b="1" dirty="0"/>
              <a:t>Narrow spacing between rings</a:t>
            </a:r>
            <a:br>
              <a:rPr lang="en-US" dirty="0"/>
            </a:br>
            <a:r>
              <a:rPr lang="en-US" dirty="0"/>
              <a:t>→ slower shell growth</a:t>
            </a:r>
            <a:br>
              <a:rPr lang="en-US" dirty="0"/>
            </a:br>
            <a:r>
              <a:rPr lang="en-US" dirty="0"/>
              <a:t>→ potentially stressful or unfavorable conditions</a:t>
            </a:r>
          </a:p>
        </p:txBody>
      </p:sp>
    </p:spTree>
    <p:extLst>
      <p:ext uri="{BB962C8B-B14F-4D97-AF65-F5344CB8AC3E}">
        <p14:creationId xmlns:p14="http://schemas.microsoft.com/office/powerpoint/2010/main" val="825114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A2B0-9068-5A13-994B-018D8F5C1B38}"/>
              </a:ext>
            </a:extLst>
          </p:cNvPr>
          <p:cNvSpPr>
            <a:spLocks noGrp="1"/>
          </p:cNvSpPr>
          <p:nvPr>
            <p:ph type="title"/>
          </p:nvPr>
        </p:nvSpPr>
        <p:spPr/>
        <p:txBody>
          <a:bodyPr/>
          <a:lstStyle/>
          <a:p>
            <a:r>
              <a:rPr lang="en-US" dirty="0"/>
              <a:t>Manual Measurement Is Accurate but Time-Consuming</a:t>
            </a:r>
          </a:p>
        </p:txBody>
      </p:sp>
      <p:pic>
        <p:nvPicPr>
          <p:cNvPr id="5" name="Content Placeholder 4">
            <a:extLst>
              <a:ext uri="{FF2B5EF4-FFF2-40B4-BE49-F238E27FC236}">
                <a16:creationId xmlns:a16="http://schemas.microsoft.com/office/drawing/2014/main" id="{44E77090-03E0-339B-0DF2-EDC4A18620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774661"/>
            <a:ext cx="10515600" cy="2953650"/>
          </a:xfrm>
          <a:prstGeom prst="rect">
            <a:avLst/>
          </a:prstGeom>
        </p:spPr>
      </p:pic>
      <p:cxnSp>
        <p:nvCxnSpPr>
          <p:cNvPr id="7" name="Straight Arrow Connector 6">
            <a:extLst>
              <a:ext uri="{FF2B5EF4-FFF2-40B4-BE49-F238E27FC236}">
                <a16:creationId xmlns:a16="http://schemas.microsoft.com/office/drawing/2014/main" id="{24575F3D-2DB9-F74E-C768-CBC36AF8AEDC}"/>
              </a:ext>
            </a:extLst>
          </p:cNvPr>
          <p:cNvCxnSpPr/>
          <p:nvPr/>
        </p:nvCxnSpPr>
        <p:spPr>
          <a:xfrm flipV="1">
            <a:off x="4581525" y="3348038"/>
            <a:ext cx="371475" cy="80962"/>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EDC25E7-99B0-39D8-064C-22D11C8558E9}"/>
              </a:ext>
            </a:extLst>
          </p:cNvPr>
          <p:cNvCxnSpPr/>
          <p:nvPr/>
        </p:nvCxnSpPr>
        <p:spPr>
          <a:xfrm>
            <a:off x="7310438" y="2700338"/>
            <a:ext cx="719137"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47A6C3B-FE5F-19E4-08F1-EFA2DA2B6F5A}"/>
              </a:ext>
            </a:extLst>
          </p:cNvPr>
          <p:cNvSpPr txBox="1"/>
          <p:nvPr/>
        </p:nvSpPr>
        <p:spPr>
          <a:xfrm>
            <a:off x="4328968" y="3429000"/>
            <a:ext cx="876587" cy="369332"/>
          </a:xfrm>
          <a:prstGeom prst="rect">
            <a:avLst/>
          </a:prstGeom>
          <a:noFill/>
        </p:spPr>
        <p:txBody>
          <a:bodyPr wrap="none" rtlCol="0">
            <a:spAutoFit/>
          </a:bodyPr>
          <a:lstStyle/>
          <a:p>
            <a:r>
              <a:rPr lang="en-US" dirty="0">
                <a:solidFill>
                  <a:srgbClr val="FF0000"/>
                </a:solidFill>
              </a:rPr>
              <a:t>narrow</a:t>
            </a:r>
          </a:p>
        </p:txBody>
      </p:sp>
      <p:sp>
        <p:nvSpPr>
          <p:cNvPr id="11" name="TextBox 10">
            <a:extLst>
              <a:ext uri="{FF2B5EF4-FFF2-40B4-BE49-F238E27FC236}">
                <a16:creationId xmlns:a16="http://schemas.microsoft.com/office/drawing/2014/main" id="{635D21B0-C7AC-7D1B-6467-1A0D6C06C253}"/>
              </a:ext>
            </a:extLst>
          </p:cNvPr>
          <p:cNvSpPr txBox="1"/>
          <p:nvPr/>
        </p:nvSpPr>
        <p:spPr>
          <a:xfrm>
            <a:off x="7341230" y="2331006"/>
            <a:ext cx="657552" cy="369332"/>
          </a:xfrm>
          <a:prstGeom prst="rect">
            <a:avLst/>
          </a:prstGeom>
          <a:noFill/>
        </p:spPr>
        <p:txBody>
          <a:bodyPr wrap="none" rtlCol="0">
            <a:spAutoFit/>
          </a:bodyPr>
          <a:lstStyle/>
          <a:p>
            <a:r>
              <a:rPr lang="en-US" dirty="0">
                <a:solidFill>
                  <a:srgbClr val="FF0000"/>
                </a:solidFill>
              </a:rPr>
              <a:t>wide</a:t>
            </a:r>
          </a:p>
        </p:txBody>
      </p:sp>
      <p:sp>
        <p:nvSpPr>
          <p:cNvPr id="12" name="TextBox 11">
            <a:extLst>
              <a:ext uri="{FF2B5EF4-FFF2-40B4-BE49-F238E27FC236}">
                <a16:creationId xmlns:a16="http://schemas.microsoft.com/office/drawing/2014/main" id="{53C39DB9-90EF-9EA5-83B6-457ADA267725}"/>
              </a:ext>
            </a:extLst>
          </p:cNvPr>
          <p:cNvSpPr txBox="1"/>
          <p:nvPr/>
        </p:nvSpPr>
        <p:spPr>
          <a:xfrm>
            <a:off x="838200" y="4898673"/>
            <a:ext cx="8454366" cy="923330"/>
          </a:xfrm>
          <a:prstGeom prst="rect">
            <a:avLst/>
          </a:prstGeom>
          <a:noFill/>
        </p:spPr>
        <p:txBody>
          <a:bodyPr wrap="none" rtlCol="0">
            <a:spAutoFit/>
          </a:bodyPr>
          <a:lstStyle/>
          <a:p>
            <a:pPr marL="285750" indent="-285750">
              <a:buFont typeface="Wingdings" panose="05000000000000000000" pitchFamily="2" charset="2"/>
              <a:buChar char="v"/>
            </a:pPr>
            <a:r>
              <a:rPr lang="en-US" dirty="0"/>
              <a:t>Manual measurement is reliable, but difficult to scale.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b="1" dirty="0">
                <a:solidFill>
                  <a:srgbClr val="FF0000"/>
                </a:solidFill>
              </a:rPr>
              <a:t>Goal:</a:t>
            </a:r>
            <a:r>
              <a:rPr lang="en-US" dirty="0">
                <a:solidFill>
                  <a:srgbClr val="FF0000"/>
                </a:solidFill>
              </a:rPr>
              <a:t> use computer vision to automate ring counting and spacing measurement.</a:t>
            </a:r>
          </a:p>
        </p:txBody>
      </p:sp>
    </p:spTree>
    <p:extLst>
      <p:ext uri="{BB962C8B-B14F-4D97-AF65-F5344CB8AC3E}">
        <p14:creationId xmlns:p14="http://schemas.microsoft.com/office/powerpoint/2010/main" val="2137301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47441-B1B7-402C-64D7-8299CB6C2A97}"/>
              </a:ext>
            </a:extLst>
          </p:cNvPr>
          <p:cNvSpPr>
            <a:spLocks noGrp="1"/>
          </p:cNvSpPr>
          <p:nvPr>
            <p:ph type="title"/>
          </p:nvPr>
        </p:nvSpPr>
        <p:spPr/>
        <p:txBody>
          <a:bodyPr/>
          <a:lstStyle/>
          <a:p>
            <a:r>
              <a:rPr lang="en-US" dirty="0"/>
              <a:t>Dataset Overview: Surf Clam Shell Images and Growth-Increment Labels</a:t>
            </a:r>
          </a:p>
        </p:txBody>
      </p:sp>
      <p:sp>
        <p:nvSpPr>
          <p:cNvPr id="3" name="Content Placeholder 2">
            <a:extLst>
              <a:ext uri="{FF2B5EF4-FFF2-40B4-BE49-F238E27FC236}">
                <a16:creationId xmlns:a16="http://schemas.microsoft.com/office/drawing/2014/main" id="{FEB8A006-E510-16DE-DECB-C08F170B045F}"/>
              </a:ext>
            </a:extLst>
          </p:cNvPr>
          <p:cNvSpPr>
            <a:spLocks noGrp="1"/>
          </p:cNvSpPr>
          <p:nvPr>
            <p:ph idx="1"/>
          </p:nvPr>
        </p:nvSpPr>
        <p:spPr/>
        <p:txBody>
          <a:bodyPr>
            <a:normAutofit fontScale="92500" lnSpcReduction="20000"/>
          </a:bodyPr>
          <a:lstStyle/>
          <a:p>
            <a:pPr>
              <a:buFont typeface="Wingdings" panose="05000000000000000000" pitchFamily="2" charset="2"/>
              <a:buChar char="v"/>
            </a:pPr>
            <a:r>
              <a:rPr lang="en-US" b="1" dirty="0"/>
              <a:t>Image data</a:t>
            </a:r>
            <a:endParaRPr lang="en-US" dirty="0"/>
          </a:p>
          <a:p>
            <a:pPr lvl="1">
              <a:buFont typeface="Wingdings" panose="05000000000000000000" pitchFamily="2" charset="2"/>
              <a:buChar char="v"/>
            </a:pPr>
            <a:r>
              <a:rPr lang="en-US" dirty="0"/>
              <a:t>More than </a:t>
            </a:r>
            <a:r>
              <a:rPr lang="en-US" b="1" dirty="0"/>
              <a:t>500 surf clam shell images</a:t>
            </a:r>
            <a:r>
              <a:rPr lang="en-US" dirty="0"/>
              <a:t> </a:t>
            </a:r>
          </a:p>
          <a:p>
            <a:pPr lvl="1">
              <a:buFont typeface="Wingdings" panose="05000000000000000000" pitchFamily="2" charset="2"/>
              <a:buChar char="v"/>
            </a:pPr>
            <a:r>
              <a:rPr lang="en-US" dirty="0"/>
              <a:t>Images collected from multiple years:</a:t>
            </a:r>
          </a:p>
          <a:p>
            <a:pPr lvl="2">
              <a:buFont typeface="Wingdings" panose="05000000000000000000" pitchFamily="2" charset="2"/>
              <a:buChar char="v"/>
            </a:pPr>
            <a:r>
              <a:rPr lang="en-US" b="1" dirty="0"/>
              <a:t>1986, 2008, 2011, 2012, 2013, 2014, 2015, and 2016</a:t>
            </a:r>
            <a:r>
              <a:rPr lang="en-US" dirty="0"/>
              <a:t> </a:t>
            </a:r>
          </a:p>
          <a:p>
            <a:pPr lvl="1">
              <a:buFont typeface="Wingdings" panose="05000000000000000000" pitchFamily="2" charset="2"/>
              <a:buChar char="v"/>
            </a:pPr>
            <a:endParaRPr lang="en-US" dirty="0"/>
          </a:p>
          <a:p>
            <a:pPr>
              <a:buFont typeface="Wingdings" panose="05000000000000000000" pitchFamily="2" charset="2"/>
              <a:buChar char="v"/>
            </a:pPr>
            <a:r>
              <a:rPr lang="en-US" b="1" dirty="0"/>
              <a:t>Available labels</a:t>
            </a:r>
            <a:endParaRPr lang="en-US" dirty="0"/>
          </a:p>
          <a:p>
            <a:pPr lvl="1">
              <a:buFont typeface="Wingdings" panose="05000000000000000000" pitchFamily="2" charset="2"/>
              <a:buChar char="v"/>
            </a:pPr>
            <a:r>
              <a:rPr lang="en-US" dirty="0"/>
              <a:t>Each labeled image is associated with a sequence of growth increments:</a:t>
            </a:r>
          </a:p>
          <a:p>
            <a:pPr lvl="2">
              <a:buFont typeface="Wingdings" panose="05000000000000000000" pitchFamily="2" charset="2"/>
              <a:buChar char="v"/>
            </a:pPr>
            <a:r>
              <a:rPr lang="en-US" b="1" dirty="0"/>
              <a:t>I1, I2, I3, ..., In</a:t>
            </a:r>
            <a:endParaRPr lang="en-US" dirty="0"/>
          </a:p>
          <a:p>
            <a:pPr lvl="1">
              <a:buFont typeface="Wingdings" panose="05000000000000000000" pitchFamily="2" charset="2"/>
              <a:buChar char="v"/>
            </a:pPr>
            <a:r>
              <a:rPr lang="en-US" dirty="0"/>
              <a:t>Each I value represents the distance between two adjacent growth rings </a:t>
            </a:r>
          </a:p>
          <a:p>
            <a:pPr lvl="1">
              <a:buFont typeface="Wingdings" panose="05000000000000000000" pitchFamily="2" charset="2"/>
              <a:buChar char="v"/>
            </a:pPr>
            <a:r>
              <a:rPr lang="en-US" dirty="0"/>
              <a:t>These labels provide </a:t>
            </a:r>
            <a:r>
              <a:rPr lang="en-US" b="1" dirty="0"/>
              <a:t>spacing measurements</a:t>
            </a:r>
            <a:r>
              <a:rPr lang="en-US" dirty="0"/>
              <a:t>, not exact ring coordinates in the image </a:t>
            </a:r>
          </a:p>
          <a:p>
            <a:pPr lvl="1">
              <a:buFont typeface="Wingdings" panose="05000000000000000000" pitchFamily="2" charset="2"/>
              <a:buChar char="v"/>
            </a:pPr>
            <a:endParaRPr lang="en-US" dirty="0"/>
          </a:p>
          <a:p>
            <a:pPr>
              <a:buFont typeface="Wingdings" panose="05000000000000000000" pitchFamily="2" charset="2"/>
              <a:buChar char="v"/>
            </a:pPr>
            <a:r>
              <a:rPr lang="en-US" b="1" dirty="0"/>
              <a:t>Pixel-to-mm conversion</a:t>
            </a:r>
            <a:endParaRPr lang="en-US" dirty="0"/>
          </a:p>
          <a:p>
            <a:pPr lvl="1">
              <a:buFont typeface="Wingdings" panose="05000000000000000000" pitchFamily="2" charset="2"/>
              <a:buChar char="v"/>
            </a:pPr>
            <a:r>
              <a:rPr lang="en-US" dirty="0"/>
              <a:t>Pixel distances are </a:t>
            </a:r>
            <a:r>
              <a:rPr lang="en-US" altLang="zh-CN" dirty="0"/>
              <a:t>given and</a:t>
            </a:r>
            <a:r>
              <a:rPr lang="zh-CN" altLang="en-US" dirty="0"/>
              <a:t> </a:t>
            </a:r>
            <a:r>
              <a:rPr lang="en-US" altLang="zh-CN" dirty="0"/>
              <a:t>they</a:t>
            </a:r>
            <a:r>
              <a:rPr lang="zh-CN" altLang="en-US" dirty="0"/>
              <a:t> </a:t>
            </a:r>
            <a:r>
              <a:rPr lang="en-US" altLang="zh-CN" dirty="0"/>
              <a:t>can</a:t>
            </a:r>
            <a:r>
              <a:rPr lang="zh-CN" altLang="en-US" dirty="0"/>
              <a:t> </a:t>
            </a:r>
            <a:r>
              <a:rPr lang="en-US" altLang="zh-CN" dirty="0"/>
              <a:t>be</a:t>
            </a:r>
            <a:r>
              <a:rPr lang="en-US" dirty="0"/>
              <a:t> converted to millimeters </a:t>
            </a:r>
          </a:p>
          <a:p>
            <a:pPr lvl="1">
              <a:buFont typeface="Wingdings" panose="05000000000000000000" pitchFamily="2" charset="2"/>
              <a:buChar char="v"/>
            </a:pPr>
            <a:endParaRPr lang="en-US" dirty="0"/>
          </a:p>
        </p:txBody>
      </p:sp>
    </p:spTree>
    <p:extLst>
      <p:ext uri="{BB962C8B-B14F-4D97-AF65-F5344CB8AC3E}">
        <p14:creationId xmlns:p14="http://schemas.microsoft.com/office/powerpoint/2010/main" val="358029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D5ED6-CF25-7024-12AD-E2FEF7B8EF62}"/>
              </a:ext>
            </a:extLst>
          </p:cNvPr>
          <p:cNvSpPr>
            <a:spLocks noGrp="1"/>
          </p:cNvSpPr>
          <p:nvPr>
            <p:ph type="title"/>
          </p:nvPr>
        </p:nvSpPr>
        <p:spPr/>
        <p:txBody>
          <a:bodyPr/>
          <a:lstStyle/>
          <a:p>
            <a:r>
              <a:rPr lang="en-US" dirty="0"/>
              <a:t>Understanding the Available Labels</a:t>
            </a:r>
          </a:p>
        </p:txBody>
      </p:sp>
      <p:pic>
        <p:nvPicPr>
          <p:cNvPr id="5" name="Content Placeholder 4">
            <a:extLst>
              <a:ext uri="{FF2B5EF4-FFF2-40B4-BE49-F238E27FC236}">
                <a16:creationId xmlns:a16="http://schemas.microsoft.com/office/drawing/2014/main" id="{B91E416C-FE73-D640-87E9-E0F177243A3D}"/>
              </a:ext>
            </a:extLst>
          </p:cNvPr>
          <p:cNvPicPr>
            <a:picLocks noGrp="1" noChangeAspect="1"/>
          </p:cNvPicPr>
          <p:nvPr>
            <p:ph idx="1"/>
          </p:nvPr>
        </p:nvPicPr>
        <p:blipFill>
          <a:blip r:embed="rId3"/>
          <a:stretch>
            <a:fillRect/>
          </a:stretch>
        </p:blipFill>
        <p:spPr>
          <a:xfrm>
            <a:off x="0" y="1965833"/>
            <a:ext cx="8702676" cy="4351338"/>
          </a:xfrm>
          <a:prstGeom prst="rect">
            <a:avLst/>
          </a:prstGeom>
        </p:spPr>
      </p:pic>
      <p:sp>
        <p:nvSpPr>
          <p:cNvPr id="6" name="TextBox 5">
            <a:extLst>
              <a:ext uri="{FF2B5EF4-FFF2-40B4-BE49-F238E27FC236}">
                <a16:creationId xmlns:a16="http://schemas.microsoft.com/office/drawing/2014/main" id="{AE68512E-8368-5F2C-5C55-BCD40809A22E}"/>
              </a:ext>
            </a:extLst>
          </p:cNvPr>
          <p:cNvSpPr txBox="1"/>
          <p:nvPr/>
        </p:nvSpPr>
        <p:spPr>
          <a:xfrm>
            <a:off x="8602092" y="1515857"/>
            <a:ext cx="2907792" cy="4801314"/>
          </a:xfrm>
          <a:prstGeom prst="rect">
            <a:avLst/>
          </a:prstGeom>
          <a:noFill/>
        </p:spPr>
        <p:txBody>
          <a:bodyPr wrap="square" rtlCol="0">
            <a:spAutoFit/>
          </a:bodyPr>
          <a:lstStyle/>
          <a:p>
            <a:pPr marL="285750" indent="-285750">
              <a:buFont typeface="Wingdings" panose="05000000000000000000" pitchFamily="2" charset="2"/>
              <a:buChar char="v"/>
            </a:pPr>
            <a:r>
              <a:rPr lang="en-US" b="1" dirty="0"/>
              <a:t>Challenge</a:t>
            </a:r>
            <a:r>
              <a:rPr lang="en-US" dirty="0"/>
              <a:t>:</a:t>
            </a:r>
          </a:p>
          <a:p>
            <a:pPr marL="742950" lvl="1" indent="-285750">
              <a:buFont typeface="Wingdings" panose="05000000000000000000" pitchFamily="2" charset="2"/>
              <a:buChar char="v"/>
            </a:pPr>
            <a:r>
              <a:rPr lang="en-US" dirty="0"/>
              <a:t>The labels do not include exact ring positions</a:t>
            </a:r>
          </a:p>
          <a:p>
            <a:pPr marL="742950" lvl="1" indent="-285750">
              <a:buFont typeface="Wingdings" panose="05000000000000000000" pitchFamily="2" charset="2"/>
              <a:buChar char="v"/>
            </a:pPr>
            <a:r>
              <a:rPr lang="en-US" dirty="0"/>
              <a:t>The start point and measurement path are not recorded</a:t>
            </a:r>
          </a:p>
          <a:p>
            <a:pPr marL="742950" lvl="1"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b="1" dirty="0"/>
              <a:t>What I inferred</a:t>
            </a:r>
            <a:r>
              <a:rPr lang="en-US" dirty="0"/>
              <a:t>:</a:t>
            </a:r>
          </a:p>
          <a:p>
            <a:pPr marL="742950" lvl="1" indent="-285750">
              <a:buFont typeface="Wingdings" panose="05000000000000000000" pitchFamily="2" charset="2"/>
              <a:buChar char="v"/>
            </a:pPr>
            <a:r>
              <a:rPr lang="en-US" dirty="0"/>
              <a:t>The spacing likely follows a curved path along the shell edge </a:t>
            </a:r>
          </a:p>
          <a:p>
            <a:pPr marL="742950" lvl="1" indent="-285750">
              <a:buFont typeface="Wingdings" panose="05000000000000000000" pitchFamily="2" charset="2"/>
              <a:buChar char="v"/>
            </a:pPr>
            <a:r>
              <a:rPr lang="en-US" dirty="0"/>
              <a:t>Based on our test, the biological order appears to be from </a:t>
            </a:r>
            <a:r>
              <a:rPr lang="en-US" b="1" dirty="0"/>
              <a:t>root/hinge to tail</a:t>
            </a:r>
            <a:endParaRPr lang="en-US" dirty="0"/>
          </a:p>
        </p:txBody>
      </p:sp>
      <p:sp>
        <p:nvSpPr>
          <p:cNvPr id="7" name="TextBox 6">
            <a:extLst>
              <a:ext uri="{FF2B5EF4-FFF2-40B4-BE49-F238E27FC236}">
                <a16:creationId xmlns:a16="http://schemas.microsoft.com/office/drawing/2014/main" id="{44148EF8-DAFE-3D0A-47E6-9B6264A76656}"/>
              </a:ext>
            </a:extLst>
          </p:cNvPr>
          <p:cNvSpPr txBox="1"/>
          <p:nvPr/>
        </p:nvSpPr>
        <p:spPr>
          <a:xfrm>
            <a:off x="838200" y="6407650"/>
            <a:ext cx="7689541" cy="369332"/>
          </a:xfrm>
          <a:prstGeom prst="rect">
            <a:avLst/>
          </a:prstGeom>
          <a:noFill/>
        </p:spPr>
        <p:txBody>
          <a:bodyPr wrap="none" rtlCol="0">
            <a:spAutoFit/>
          </a:bodyPr>
          <a:lstStyle/>
          <a:p>
            <a:r>
              <a:rPr lang="en-US" dirty="0">
                <a:solidFill>
                  <a:srgbClr val="FF0000"/>
                </a:solidFill>
              </a:rPr>
              <a:t>The first challenge is to align them with the correct image path and direction.</a:t>
            </a:r>
          </a:p>
        </p:txBody>
      </p:sp>
    </p:spTree>
    <p:extLst>
      <p:ext uri="{BB962C8B-B14F-4D97-AF65-F5344CB8AC3E}">
        <p14:creationId xmlns:p14="http://schemas.microsoft.com/office/powerpoint/2010/main" val="821485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B695-8E8F-99D1-BF2B-1FB4F1F1323B}"/>
              </a:ext>
            </a:extLst>
          </p:cNvPr>
          <p:cNvSpPr>
            <a:spLocks noGrp="1"/>
          </p:cNvSpPr>
          <p:nvPr>
            <p:ph type="title"/>
          </p:nvPr>
        </p:nvSpPr>
        <p:spPr/>
        <p:txBody>
          <a:bodyPr/>
          <a:lstStyle/>
          <a:p>
            <a:r>
              <a:rPr lang="en-US" dirty="0"/>
              <a:t>Challenge 2: Limited Training Data</a:t>
            </a:r>
          </a:p>
        </p:txBody>
      </p:sp>
      <p:sp>
        <p:nvSpPr>
          <p:cNvPr id="3" name="Content Placeholder 2">
            <a:extLst>
              <a:ext uri="{FF2B5EF4-FFF2-40B4-BE49-F238E27FC236}">
                <a16:creationId xmlns:a16="http://schemas.microsoft.com/office/drawing/2014/main" id="{3BEF960C-4D66-75F2-E725-7B9A328DCD09}"/>
              </a:ext>
            </a:extLst>
          </p:cNvPr>
          <p:cNvSpPr>
            <a:spLocks noGrp="1"/>
          </p:cNvSpPr>
          <p:nvPr>
            <p:ph idx="1"/>
          </p:nvPr>
        </p:nvSpPr>
        <p:spPr/>
        <p:txBody>
          <a:bodyPr/>
          <a:lstStyle/>
          <a:p>
            <a:r>
              <a:rPr lang="en-US" dirty="0"/>
              <a:t>Only a small number of labeled images are available, making it difficult to train a dedicated deep learning model.</a:t>
            </a:r>
          </a:p>
          <a:p>
            <a:endParaRPr lang="en-US" dirty="0"/>
          </a:p>
          <a:p>
            <a:r>
              <a:rPr lang="en-US" dirty="0"/>
              <a:t>Instead, the model needs to infer growth-ring patterns from visual cues such as texture, contrast, and shell structure automatically.</a:t>
            </a:r>
          </a:p>
          <a:p>
            <a:endParaRPr lang="en-US" dirty="0"/>
          </a:p>
        </p:txBody>
      </p:sp>
    </p:spTree>
    <p:extLst>
      <p:ext uri="{BB962C8B-B14F-4D97-AF65-F5344CB8AC3E}">
        <p14:creationId xmlns:p14="http://schemas.microsoft.com/office/powerpoint/2010/main" val="156566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2DBA0-E407-8A8F-1DAA-B2A4F0C6433C}"/>
              </a:ext>
            </a:extLst>
          </p:cNvPr>
          <p:cNvSpPr>
            <a:spLocks noGrp="1"/>
          </p:cNvSpPr>
          <p:nvPr>
            <p:ph type="title"/>
          </p:nvPr>
        </p:nvSpPr>
        <p:spPr/>
        <p:txBody>
          <a:bodyPr/>
          <a:lstStyle/>
          <a:p>
            <a:r>
              <a:rPr lang="en-US" dirty="0"/>
              <a:t>Challenge 3: Image-Level Difficulties</a:t>
            </a:r>
          </a:p>
        </p:txBody>
      </p:sp>
      <p:sp>
        <p:nvSpPr>
          <p:cNvPr id="3" name="Content Placeholder 2">
            <a:extLst>
              <a:ext uri="{FF2B5EF4-FFF2-40B4-BE49-F238E27FC236}">
                <a16:creationId xmlns:a16="http://schemas.microsoft.com/office/drawing/2014/main" id="{F9CA9443-2F86-4437-3B90-55AC7D827D25}"/>
              </a:ext>
            </a:extLst>
          </p:cNvPr>
          <p:cNvSpPr>
            <a:spLocks noGrp="1"/>
          </p:cNvSpPr>
          <p:nvPr>
            <p:ph idx="1"/>
          </p:nvPr>
        </p:nvSpPr>
        <p:spPr>
          <a:xfrm>
            <a:off x="838200" y="1825625"/>
            <a:ext cx="10515600" cy="1603375"/>
          </a:xfrm>
        </p:spPr>
        <p:txBody>
          <a:bodyPr>
            <a:normAutofit/>
          </a:bodyPr>
          <a:lstStyle/>
          <a:p>
            <a:pPr>
              <a:buFont typeface="Wingdings" panose="05000000000000000000" pitchFamily="2" charset="2"/>
              <a:buChar char="v"/>
            </a:pPr>
            <a:r>
              <a:rPr lang="en-US" sz="2000" dirty="0"/>
              <a:t>Rings are densely packed near the root/hinge region </a:t>
            </a:r>
          </a:p>
          <a:p>
            <a:pPr>
              <a:buFont typeface="Wingdings" panose="05000000000000000000" pitchFamily="2" charset="2"/>
              <a:buChar char="v"/>
            </a:pPr>
            <a:r>
              <a:rPr lang="en-US" sz="2000" dirty="0"/>
              <a:t>Large black background areas can interfere with detection </a:t>
            </a:r>
          </a:p>
          <a:p>
            <a:pPr>
              <a:buFont typeface="Wingdings" panose="05000000000000000000" pitchFamily="2" charset="2"/>
              <a:buChar char="v"/>
            </a:pPr>
            <a:r>
              <a:rPr lang="en-US" sz="2000" dirty="0"/>
              <a:t>Ring visibility is inconsistent: some rings are dark and clear, while others are faint </a:t>
            </a:r>
          </a:p>
          <a:p>
            <a:pPr>
              <a:buFont typeface="Wingdings" panose="05000000000000000000" pitchFamily="2" charset="2"/>
              <a:buChar char="v"/>
            </a:pPr>
            <a:r>
              <a:rPr lang="en-US" sz="2000" dirty="0"/>
              <a:t>Fake rings, weak rings, and shell cracks make growth-ring detection difficult.</a:t>
            </a:r>
          </a:p>
        </p:txBody>
      </p:sp>
      <p:pic>
        <p:nvPicPr>
          <p:cNvPr id="4" name="Content Placeholder 4">
            <a:extLst>
              <a:ext uri="{FF2B5EF4-FFF2-40B4-BE49-F238E27FC236}">
                <a16:creationId xmlns:a16="http://schemas.microsoft.com/office/drawing/2014/main" id="{61386767-32B8-E634-0401-808CF0600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640" y="3563937"/>
            <a:ext cx="10515600" cy="2953650"/>
          </a:xfrm>
          <a:prstGeom prst="rect">
            <a:avLst/>
          </a:prstGeom>
        </p:spPr>
      </p:pic>
      <p:sp>
        <p:nvSpPr>
          <p:cNvPr id="5" name="Rectangle 4">
            <a:extLst>
              <a:ext uri="{FF2B5EF4-FFF2-40B4-BE49-F238E27FC236}">
                <a16:creationId xmlns:a16="http://schemas.microsoft.com/office/drawing/2014/main" id="{03C268AE-7217-67A3-0533-6132E80D0A7C}"/>
              </a:ext>
            </a:extLst>
          </p:cNvPr>
          <p:cNvSpPr/>
          <p:nvPr/>
        </p:nvSpPr>
        <p:spPr>
          <a:xfrm>
            <a:off x="5243438" y="4254798"/>
            <a:ext cx="295836" cy="13967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663359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0700-2B61-753A-0544-7F7D8FDF82F0}"/>
              </a:ext>
            </a:extLst>
          </p:cNvPr>
          <p:cNvSpPr>
            <a:spLocks noGrp="1"/>
          </p:cNvSpPr>
          <p:nvPr>
            <p:ph type="title"/>
          </p:nvPr>
        </p:nvSpPr>
        <p:spPr/>
        <p:txBody>
          <a:bodyPr/>
          <a:lstStyle/>
          <a:p>
            <a:r>
              <a:rPr lang="en-US" dirty="0"/>
              <a:t>Current Workflow</a:t>
            </a:r>
          </a:p>
        </p:txBody>
      </p:sp>
      <p:sp>
        <p:nvSpPr>
          <p:cNvPr id="3" name="Content Placeholder 2">
            <a:extLst>
              <a:ext uri="{FF2B5EF4-FFF2-40B4-BE49-F238E27FC236}">
                <a16:creationId xmlns:a16="http://schemas.microsoft.com/office/drawing/2014/main" id="{F8A03019-DC48-45A9-6586-BBF3ABB8BF70}"/>
              </a:ext>
            </a:extLst>
          </p:cNvPr>
          <p:cNvSpPr>
            <a:spLocks noGrp="1"/>
          </p:cNvSpPr>
          <p:nvPr>
            <p:ph idx="1"/>
          </p:nvPr>
        </p:nvSpPr>
        <p:spPr/>
        <p:txBody>
          <a:bodyPr>
            <a:normAutofit fontScale="92500" lnSpcReduction="10000"/>
          </a:bodyPr>
          <a:lstStyle/>
          <a:p>
            <a:pPr marL="514350" indent="-514350">
              <a:buFont typeface="+mj-lt"/>
              <a:buAutoNum type="arabicParenR"/>
            </a:pPr>
            <a:r>
              <a:rPr lang="en-US" b="1" dirty="0"/>
              <a:t>Segment the shell region</a:t>
            </a:r>
            <a:br>
              <a:rPr lang="en-US" dirty="0"/>
            </a:br>
            <a:r>
              <a:rPr lang="en-US" b="1" dirty="0"/>
              <a:t>Model:</a:t>
            </a:r>
            <a:r>
              <a:rPr lang="en-US" dirty="0"/>
              <a:t> </a:t>
            </a:r>
            <a:r>
              <a:rPr lang="en-US" dirty="0" err="1"/>
              <a:t>FastSAM</a:t>
            </a:r>
            <a:r>
              <a:rPr lang="en-US" dirty="0"/>
              <a:t> </a:t>
            </a:r>
          </a:p>
          <a:p>
            <a:pPr marL="514350" indent="-514350">
              <a:buFont typeface="+mj-lt"/>
              <a:buAutoNum type="arabicParenR"/>
            </a:pPr>
            <a:r>
              <a:rPr lang="en-US" b="1" dirty="0"/>
              <a:t>Enhance ring visibility</a:t>
            </a:r>
            <a:br>
              <a:rPr lang="en-US" dirty="0"/>
            </a:br>
            <a:r>
              <a:rPr lang="en-US" b="1" dirty="0"/>
              <a:t>Algorithms:</a:t>
            </a:r>
            <a:r>
              <a:rPr lang="en-US" dirty="0"/>
              <a:t> grayscale conversion + CLAHE </a:t>
            </a:r>
          </a:p>
          <a:p>
            <a:pPr marL="514350" indent="-514350">
              <a:buFont typeface="+mj-lt"/>
              <a:buAutoNum type="arabicParenR"/>
            </a:pPr>
            <a:r>
              <a:rPr lang="en-US" b="1" dirty="0"/>
              <a:t>Define the measurement path (I draw the path manually)</a:t>
            </a:r>
            <a:endParaRPr lang="en-US" dirty="0"/>
          </a:p>
          <a:p>
            <a:pPr marL="514350" indent="-514350">
              <a:buFont typeface="+mj-lt"/>
              <a:buAutoNum type="arabicParenR"/>
            </a:pPr>
            <a:r>
              <a:rPr lang="en-US" b="1" dirty="0"/>
              <a:t>Convert the image to a 1D signal</a:t>
            </a:r>
            <a:br>
              <a:rPr lang="en-US" dirty="0"/>
            </a:br>
            <a:r>
              <a:rPr lang="en-US" dirty="0"/>
              <a:t>Extract gray-value profile along the measurement curve </a:t>
            </a:r>
          </a:p>
          <a:p>
            <a:pPr marL="514350" indent="-514350">
              <a:buFont typeface="+mj-lt"/>
              <a:buAutoNum type="arabicParenR"/>
            </a:pPr>
            <a:r>
              <a:rPr lang="en-US" b="1" dirty="0"/>
              <a:t>Reduce signal noise</a:t>
            </a:r>
            <a:br>
              <a:rPr lang="en-US" dirty="0"/>
            </a:br>
            <a:r>
              <a:rPr lang="en-US" b="1" dirty="0"/>
              <a:t>Algorithm:</a:t>
            </a:r>
            <a:r>
              <a:rPr lang="en-US" dirty="0"/>
              <a:t> Gaussian filtering </a:t>
            </a:r>
          </a:p>
          <a:p>
            <a:pPr marL="514350" indent="-514350">
              <a:buFont typeface="+mj-lt"/>
              <a:buAutoNum type="arabicParenR"/>
            </a:pPr>
            <a:r>
              <a:rPr lang="en-US" b="1" dirty="0"/>
              <a:t>Detect candidate growth rings</a:t>
            </a:r>
            <a:br>
              <a:rPr lang="en-US" dirty="0"/>
            </a:br>
            <a:r>
              <a:rPr lang="en-US" b="1" dirty="0"/>
              <a:t>Algorithm:</a:t>
            </a:r>
            <a:r>
              <a:rPr lang="en-US" dirty="0"/>
              <a:t> valley detection using </a:t>
            </a:r>
            <a:r>
              <a:rPr lang="en-US" dirty="0" err="1"/>
              <a:t>scipy.signal.find_peaks</a:t>
            </a:r>
            <a:endParaRPr lang="en-US" dirty="0"/>
          </a:p>
        </p:txBody>
      </p:sp>
      <p:pic>
        <p:nvPicPr>
          <p:cNvPr id="4" name="Content Placeholder 4">
            <a:extLst>
              <a:ext uri="{FF2B5EF4-FFF2-40B4-BE49-F238E27FC236}">
                <a16:creationId xmlns:a16="http://schemas.microsoft.com/office/drawing/2014/main" id="{0246F2B5-5777-1548-9C8D-D9C3C81C9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7541" y="1524613"/>
            <a:ext cx="4012153" cy="1126944"/>
          </a:xfrm>
          <a:prstGeom prst="rect">
            <a:avLst/>
          </a:prstGeom>
        </p:spPr>
      </p:pic>
    </p:spTree>
    <p:extLst>
      <p:ext uri="{BB962C8B-B14F-4D97-AF65-F5344CB8AC3E}">
        <p14:creationId xmlns:p14="http://schemas.microsoft.com/office/powerpoint/2010/main" val="215820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7D4C9-B644-7AF1-B601-21882011D17D}"/>
              </a:ext>
            </a:extLst>
          </p:cNvPr>
          <p:cNvSpPr>
            <a:spLocks noGrp="1"/>
          </p:cNvSpPr>
          <p:nvPr>
            <p:ph type="title"/>
          </p:nvPr>
        </p:nvSpPr>
        <p:spPr/>
        <p:txBody>
          <a:bodyPr/>
          <a:lstStyle/>
          <a:p>
            <a:r>
              <a:rPr lang="en-US" dirty="0"/>
              <a:t>Results</a:t>
            </a:r>
          </a:p>
        </p:txBody>
      </p:sp>
      <p:pic>
        <p:nvPicPr>
          <p:cNvPr id="5" name="Content Placeholder 4">
            <a:extLst>
              <a:ext uri="{FF2B5EF4-FFF2-40B4-BE49-F238E27FC236}">
                <a16:creationId xmlns:a16="http://schemas.microsoft.com/office/drawing/2014/main" id="{8A5F6FE3-67A5-5953-0D64-B877C89661F4}"/>
              </a:ext>
            </a:extLst>
          </p:cNvPr>
          <p:cNvPicPr>
            <a:picLocks noGrp="1" noChangeAspect="1"/>
          </p:cNvPicPr>
          <p:nvPr>
            <p:ph idx="1"/>
          </p:nvPr>
        </p:nvPicPr>
        <p:blipFill>
          <a:blip r:embed="rId3"/>
          <a:stretch>
            <a:fillRect/>
          </a:stretch>
        </p:blipFill>
        <p:spPr>
          <a:xfrm>
            <a:off x="768826" y="1602793"/>
            <a:ext cx="8802148" cy="4890082"/>
          </a:xfrm>
          <a:prstGeom prst="rect">
            <a:avLst/>
          </a:prstGeom>
        </p:spPr>
      </p:pic>
      <p:sp>
        <p:nvSpPr>
          <p:cNvPr id="3" name="Rectangle 2">
            <a:extLst>
              <a:ext uri="{FF2B5EF4-FFF2-40B4-BE49-F238E27FC236}">
                <a16:creationId xmlns:a16="http://schemas.microsoft.com/office/drawing/2014/main" id="{B0EE475A-F996-A0DE-8648-FCDA186FF046}"/>
              </a:ext>
            </a:extLst>
          </p:cNvPr>
          <p:cNvSpPr/>
          <p:nvPr/>
        </p:nvSpPr>
        <p:spPr>
          <a:xfrm>
            <a:off x="4779888" y="2832399"/>
            <a:ext cx="295836" cy="3429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884947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A9473-9174-A8C7-8FAF-CB06AB8C565E}"/>
              </a:ext>
            </a:extLst>
          </p:cNvPr>
          <p:cNvSpPr>
            <a:spLocks noGrp="1"/>
          </p:cNvSpPr>
          <p:nvPr>
            <p:ph type="title"/>
          </p:nvPr>
        </p:nvSpPr>
        <p:spPr/>
        <p:txBody>
          <a:bodyPr/>
          <a:lstStyle/>
          <a:p>
            <a:r>
              <a:rPr lang="en-US" dirty="0"/>
              <a:t>O</a:t>
            </a:r>
            <a:r>
              <a:rPr lang="en-US" altLang="zh-CN" dirty="0"/>
              <a:t>ther Potential Methods</a:t>
            </a:r>
            <a:endParaRPr lang="en-US" dirty="0"/>
          </a:p>
        </p:txBody>
      </p:sp>
      <p:sp>
        <p:nvSpPr>
          <p:cNvPr id="3" name="Text Placeholder 2">
            <a:extLst>
              <a:ext uri="{FF2B5EF4-FFF2-40B4-BE49-F238E27FC236}">
                <a16:creationId xmlns:a16="http://schemas.microsoft.com/office/drawing/2014/main" id="{FA6FEF0F-6BB8-317F-88E8-92A4F6BC15B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4016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7310-0C9D-358B-5443-BA60390E221C}"/>
              </a:ext>
            </a:extLst>
          </p:cNvPr>
          <p:cNvSpPr>
            <a:spLocks noGrp="1"/>
          </p:cNvSpPr>
          <p:nvPr>
            <p:ph type="title"/>
          </p:nvPr>
        </p:nvSpPr>
        <p:spPr/>
        <p:txBody>
          <a:bodyPr/>
          <a:lstStyle/>
          <a:p>
            <a:r>
              <a:rPr lang="en-US" dirty="0"/>
              <a:t>Trying Large Models</a:t>
            </a:r>
          </a:p>
        </p:txBody>
      </p:sp>
      <p:sp>
        <p:nvSpPr>
          <p:cNvPr id="3" name="Content Placeholder 2">
            <a:extLst>
              <a:ext uri="{FF2B5EF4-FFF2-40B4-BE49-F238E27FC236}">
                <a16:creationId xmlns:a16="http://schemas.microsoft.com/office/drawing/2014/main" id="{4C1AFF1E-AF07-85B6-75EE-C9CEFBFA66F6}"/>
              </a:ext>
            </a:extLst>
          </p:cNvPr>
          <p:cNvSpPr>
            <a:spLocks noGrp="1"/>
          </p:cNvSpPr>
          <p:nvPr>
            <p:ph idx="1"/>
          </p:nvPr>
        </p:nvSpPr>
        <p:spPr/>
        <p:txBody>
          <a:bodyPr>
            <a:normAutofit fontScale="85000" lnSpcReduction="20000"/>
          </a:bodyPr>
          <a:lstStyle/>
          <a:p>
            <a:r>
              <a:rPr lang="en-US" b="1" dirty="0"/>
              <a:t>Models to try</a:t>
            </a:r>
            <a:endParaRPr lang="en-US" dirty="0"/>
          </a:p>
          <a:p>
            <a:pPr lvl="1"/>
            <a:r>
              <a:rPr lang="en-US" dirty="0"/>
              <a:t>VLMs: CHATGPT, Claude, Gemini, Qwen-VL</a:t>
            </a:r>
          </a:p>
          <a:p>
            <a:pPr lvl="1"/>
            <a:endParaRPr lang="en-US" dirty="0"/>
          </a:p>
          <a:p>
            <a:r>
              <a:rPr lang="en-US" b="1" dirty="0"/>
              <a:t>Possible problems</a:t>
            </a:r>
            <a:endParaRPr lang="en-US" dirty="0"/>
          </a:p>
          <a:p>
            <a:pPr lvl="1"/>
            <a:r>
              <a:rPr lang="en-US" dirty="0"/>
              <a:t>Can‘t count dense / thin / faint rings reliably,</a:t>
            </a:r>
            <a:r>
              <a:rPr lang="zh-CN" altLang="en-US" dirty="0"/>
              <a:t> </a:t>
            </a:r>
            <a:r>
              <a:rPr lang="en-US" dirty="0"/>
              <a:t>still confused by fake rings</a:t>
            </a:r>
          </a:p>
          <a:p>
            <a:pPr lvl="1"/>
            <a:r>
              <a:rPr lang="en-US" dirty="0"/>
              <a:t>No pixel-level position or accurate spacing</a:t>
            </a:r>
          </a:p>
          <a:p>
            <a:pPr lvl="1"/>
            <a:r>
              <a:rPr lang="en-US" dirty="0"/>
              <a:t>Hallucination and non-reproducible results</a:t>
            </a:r>
          </a:p>
          <a:p>
            <a:pPr lvl="1"/>
            <a:endParaRPr lang="en-US" dirty="0"/>
          </a:p>
          <a:p>
            <a:r>
              <a:rPr lang="en-US" b="1" dirty="0"/>
              <a:t>Possible directions</a:t>
            </a:r>
            <a:endParaRPr lang="en-US" dirty="0"/>
          </a:p>
          <a:p>
            <a:pPr lvl="1"/>
            <a:r>
              <a:rPr lang="en-US" dirty="0"/>
              <a:t>Quality triage: judge if rings are clear enough to measure</a:t>
            </a:r>
          </a:p>
          <a:p>
            <a:pPr lvl="1"/>
            <a:r>
              <a:rPr lang="en-US" dirty="0"/>
              <a:t>Patch-level check: "true ring or crack/fake ring?" to clean up CV results</a:t>
            </a:r>
          </a:p>
          <a:p>
            <a:pPr lvl="1"/>
            <a:endParaRPr lang="en-US" dirty="0"/>
          </a:p>
          <a:p>
            <a:r>
              <a:rPr lang="en-US" b="1" dirty="0"/>
              <a:t>End-to-end baseline: VLM counts directly, as a comparison</a:t>
            </a:r>
          </a:p>
          <a:p>
            <a:endParaRPr lang="en-US" dirty="0"/>
          </a:p>
        </p:txBody>
      </p:sp>
    </p:spTree>
    <p:extLst>
      <p:ext uri="{BB962C8B-B14F-4D97-AF65-F5344CB8AC3E}">
        <p14:creationId xmlns:p14="http://schemas.microsoft.com/office/powerpoint/2010/main" val="1988813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543A-3B9C-2359-2F1C-DAB4C5479FFA}"/>
              </a:ext>
            </a:extLst>
          </p:cNvPr>
          <p:cNvSpPr>
            <a:spLocks noGrp="1"/>
          </p:cNvSpPr>
          <p:nvPr>
            <p:ph type="title"/>
          </p:nvPr>
        </p:nvSpPr>
        <p:spPr/>
        <p:txBody>
          <a:bodyPr/>
          <a:lstStyle/>
          <a:p>
            <a:r>
              <a:rPr lang="en-US" dirty="0"/>
              <a:t>Possible Solution Framework</a:t>
            </a:r>
          </a:p>
        </p:txBody>
      </p:sp>
      <p:sp>
        <p:nvSpPr>
          <p:cNvPr id="3" name="Content Placeholder 2">
            <a:extLst>
              <a:ext uri="{FF2B5EF4-FFF2-40B4-BE49-F238E27FC236}">
                <a16:creationId xmlns:a16="http://schemas.microsoft.com/office/drawing/2014/main" id="{5E55FD00-39B0-FD1B-9243-B5935AC606E8}"/>
              </a:ext>
            </a:extLst>
          </p:cNvPr>
          <p:cNvSpPr>
            <a:spLocks noGrp="1"/>
          </p:cNvSpPr>
          <p:nvPr>
            <p:ph idx="1"/>
          </p:nvPr>
        </p:nvSpPr>
        <p:spPr>
          <a:xfrm>
            <a:off x="838200" y="1825624"/>
            <a:ext cx="10515600" cy="4959223"/>
          </a:xfrm>
        </p:spPr>
        <p:txBody>
          <a:bodyPr>
            <a:normAutofit fontScale="85000" lnSpcReduction="20000"/>
          </a:bodyPr>
          <a:lstStyle/>
          <a:p>
            <a:pPr>
              <a:buFont typeface="Wingdings" panose="05000000000000000000" pitchFamily="2" charset="2"/>
              <a:buChar char="v"/>
            </a:pPr>
            <a:r>
              <a:rPr lang="en-US" b="1" dirty="0"/>
              <a:t>Background Removal</a:t>
            </a:r>
          </a:p>
          <a:p>
            <a:pPr lvl="1">
              <a:buFont typeface="Wingdings" panose="05000000000000000000" pitchFamily="2" charset="2"/>
              <a:buChar char="v"/>
            </a:pPr>
            <a:r>
              <a:rPr lang="en-US" b="1" dirty="0"/>
              <a:t>Problem:</a:t>
            </a:r>
            <a:br>
              <a:rPr lang="en-US" dirty="0"/>
            </a:br>
            <a:r>
              <a:rPr lang="en-US" dirty="0"/>
              <a:t>Images contain large black background areas and holes inside the shell.</a:t>
            </a:r>
          </a:p>
          <a:p>
            <a:pPr lvl="1">
              <a:buFont typeface="Wingdings" panose="05000000000000000000" pitchFamily="2" charset="2"/>
              <a:buChar char="v"/>
            </a:pPr>
            <a:endParaRPr lang="en-US" dirty="0"/>
          </a:p>
          <a:p>
            <a:r>
              <a:rPr lang="en-US" b="1" dirty="0"/>
              <a:t>Possible methods</a:t>
            </a:r>
          </a:p>
          <a:p>
            <a:pPr marL="914400" lvl="1" indent="-457200">
              <a:buFont typeface="+mj-lt"/>
              <a:buAutoNum type="arabicPeriod"/>
            </a:pPr>
            <a:r>
              <a:rPr lang="en-US" b="1" dirty="0"/>
              <a:t>SAM / </a:t>
            </a:r>
            <a:r>
              <a:rPr lang="en-US" b="1" dirty="0" err="1"/>
              <a:t>FastSAM</a:t>
            </a:r>
            <a:br>
              <a:rPr lang="en-US" dirty="0"/>
            </a:br>
            <a:r>
              <a:rPr lang="en-US" dirty="0"/>
              <a:t>Pretrained segmentation model for selecting the shell region.</a:t>
            </a:r>
            <a:br>
              <a:rPr lang="en-US" dirty="0"/>
            </a:br>
            <a:r>
              <a:rPr lang="en-US" dirty="0"/>
              <a:t>Python package: </a:t>
            </a:r>
            <a:r>
              <a:rPr lang="en-US" dirty="0" err="1"/>
              <a:t>segment_anything</a:t>
            </a:r>
            <a:r>
              <a:rPr lang="en-US" dirty="0"/>
              <a:t> / </a:t>
            </a:r>
            <a:r>
              <a:rPr lang="en-US" dirty="0" err="1"/>
              <a:t>ultralytics</a:t>
            </a:r>
            <a:endParaRPr lang="en-US" dirty="0"/>
          </a:p>
          <a:p>
            <a:pPr marL="914400" lvl="1" indent="-457200">
              <a:buFont typeface="+mj-lt"/>
              <a:buAutoNum type="arabicPeriod"/>
            </a:pPr>
            <a:r>
              <a:rPr lang="en-US" b="1" dirty="0"/>
              <a:t>Otsu’s Thresholding</a:t>
            </a:r>
            <a:br>
              <a:rPr lang="en-US" dirty="0"/>
            </a:br>
            <a:r>
              <a:rPr lang="en-US" dirty="0"/>
              <a:t>Automatically finds one global brightness cutoff.</a:t>
            </a:r>
            <a:br>
              <a:rPr lang="en-US" dirty="0"/>
            </a:br>
            <a:r>
              <a:rPr lang="en-US" dirty="0"/>
              <a:t>Python function: cv2.threshold(..., cv2.THRESH_OTSU)</a:t>
            </a:r>
          </a:p>
          <a:p>
            <a:pPr marL="914400" lvl="1" indent="-457200">
              <a:buFont typeface="+mj-lt"/>
              <a:buAutoNum type="arabicPeriod"/>
            </a:pPr>
            <a:r>
              <a:rPr lang="en-US" b="1" dirty="0"/>
              <a:t>Mean / Gaussian Adaptive Thresholding</a:t>
            </a:r>
            <a:br>
              <a:rPr lang="en-US" dirty="0"/>
            </a:br>
            <a:r>
              <a:rPr lang="en-US" dirty="0"/>
              <a:t>Uses a local window to calculate a local cutoff, instead of one cutoff for the whole image.</a:t>
            </a:r>
            <a:br>
              <a:rPr lang="en-US" dirty="0"/>
            </a:br>
            <a:r>
              <a:rPr lang="en-US" dirty="0"/>
              <a:t>Python function: cv2.adaptiveThreshold()</a:t>
            </a:r>
          </a:p>
          <a:p>
            <a:pPr marL="914400" lvl="1" indent="-457200">
              <a:buFont typeface="+mj-lt"/>
              <a:buAutoNum type="arabicPeriod"/>
            </a:pPr>
            <a:r>
              <a:rPr lang="en-US" b="1" dirty="0" err="1"/>
              <a:t>GrabCut</a:t>
            </a:r>
            <a:br>
              <a:rPr lang="en-US" dirty="0"/>
            </a:br>
            <a:r>
              <a:rPr lang="en-US" dirty="0"/>
              <a:t>Refines foreground/background separation from a rough box or mask.</a:t>
            </a:r>
            <a:br>
              <a:rPr lang="en-US" dirty="0"/>
            </a:br>
            <a:r>
              <a:rPr lang="en-US" dirty="0"/>
              <a:t>Python function: cv2.grabCut()</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339437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7606-862D-FF99-684A-213D4C8D9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8C49E-E53E-8544-02BA-033D02EEC809}"/>
              </a:ext>
            </a:extLst>
          </p:cNvPr>
          <p:cNvSpPr>
            <a:spLocks noGrp="1"/>
          </p:cNvSpPr>
          <p:nvPr>
            <p:ph type="title"/>
          </p:nvPr>
        </p:nvSpPr>
        <p:spPr/>
        <p:txBody>
          <a:bodyPr/>
          <a:lstStyle/>
          <a:p>
            <a:r>
              <a:rPr lang="en-US" dirty="0"/>
              <a:t>Possible Solution Framework</a:t>
            </a:r>
          </a:p>
        </p:txBody>
      </p:sp>
      <p:sp>
        <p:nvSpPr>
          <p:cNvPr id="3" name="Content Placeholder 2">
            <a:extLst>
              <a:ext uri="{FF2B5EF4-FFF2-40B4-BE49-F238E27FC236}">
                <a16:creationId xmlns:a16="http://schemas.microsoft.com/office/drawing/2014/main" id="{68D4818B-C1DE-A09F-31C3-0F962294F37C}"/>
              </a:ext>
            </a:extLst>
          </p:cNvPr>
          <p:cNvSpPr>
            <a:spLocks noGrp="1"/>
          </p:cNvSpPr>
          <p:nvPr>
            <p:ph idx="1"/>
          </p:nvPr>
        </p:nvSpPr>
        <p:spPr>
          <a:xfrm>
            <a:off x="838200" y="1825624"/>
            <a:ext cx="10515600" cy="4959223"/>
          </a:xfrm>
        </p:spPr>
        <p:txBody>
          <a:bodyPr>
            <a:normAutofit fontScale="85000" lnSpcReduction="10000"/>
          </a:bodyPr>
          <a:lstStyle/>
          <a:p>
            <a:r>
              <a:rPr lang="en-US" b="1" dirty="0"/>
              <a:t>Measurement Path Detection</a:t>
            </a:r>
          </a:p>
          <a:p>
            <a:endParaRPr lang="en-US" b="1" dirty="0"/>
          </a:p>
          <a:p>
            <a:r>
              <a:rPr lang="en-US" b="1" dirty="0"/>
              <a:t>Possible methods:</a:t>
            </a:r>
            <a:endParaRPr lang="en-US" dirty="0"/>
          </a:p>
          <a:p>
            <a:pPr marL="914400" lvl="1" indent="-457200">
              <a:buFont typeface="+mj-lt"/>
              <a:buAutoNum type="arabicPeriod"/>
            </a:pPr>
            <a:r>
              <a:rPr lang="en-US" b="1" dirty="0"/>
              <a:t>Manual curve drawing</a:t>
            </a:r>
            <a:br>
              <a:rPr lang="en-US" dirty="0"/>
            </a:br>
            <a:endParaRPr lang="en-US" dirty="0"/>
          </a:p>
          <a:p>
            <a:pPr marL="914400" lvl="1" indent="-457200">
              <a:buFont typeface="+mj-lt"/>
              <a:buAutoNum type="arabicPeriod"/>
            </a:pPr>
            <a:r>
              <a:rPr lang="en-US" b="1" dirty="0"/>
              <a:t>Use the shell mask outline as the path</a:t>
            </a:r>
            <a:br>
              <a:rPr lang="en-US" dirty="0"/>
            </a:br>
            <a:r>
              <a:rPr lang="en-US" dirty="0"/>
              <a:t>After background removal, the shell becomes a binary mask. The outer border of this mask can be used as a candidate path.</a:t>
            </a:r>
            <a:br>
              <a:rPr lang="en-US" dirty="0"/>
            </a:br>
            <a:r>
              <a:rPr lang="en-US" dirty="0"/>
              <a:t>Method: cv2.findContours() </a:t>
            </a:r>
          </a:p>
          <a:p>
            <a:pPr marL="914400" lvl="1" indent="-457200">
              <a:buFont typeface="+mj-lt"/>
              <a:buAutoNum type="arabicPeriod"/>
            </a:pPr>
            <a:r>
              <a:rPr lang="en-US" b="1" dirty="0"/>
              <a:t>Use visible shell edges as path candidates</a:t>
            </a:r>
            <a:br>
              <a:rPr lang="en-US" dirty="0"/>
            </a:br>
            <a:r>
              <a:rPr lang="en-US" dirty="0"/>
              <a:t>Instead of using a mask, detect strong visual boundaries directly from the original image, such as the boundary between the shell and the black background.</a:t>
            </a:r>
            <a:br>
              <a:rPr lang="en-US" dirty="0"/>
            </a:br>
            <a:r>
              <a:rPr lang="en-US" dirty="0"/>
              <a:t>Methods: cv2.Canny(), cv2.Sobel() </a:t>
            </a:r>
          </a:p>
          <a:p>
            <a:pPr marL="914400" lvl="1" indent="-457200">
              <a:buFont typeface="+mj-lt"/>
              <a:buAutoNum type="arabicPeriod"/>
            </a:pPr>
            <a:r>
              <a:rPr lang="en-US" b="1" dirty="0"/>
              <a:t>Extract a centerline from the shell mask</a:t>
            </a:r>
            <a:br>
              <a:rPr lang="en-US" dirty="0"/>
            </a:br>
            <a:r>
              <a:rPr lang="en-US" dirty="0"/>
              <a:t>Convert the shell region into a thin middle line, then use this line as a possible measurement path.</a:t>
            </a:r>
            <a:br>
              <a:rPr lang="en-US" dirty="0"/>
            </a:br>
            <a:r>
              <a:rPr lang="en-US" dirty="0"/>
              <a:t>Methods: </a:t>
            </a:r>
            <a:r>
              <a:rPr lang="en-US" dirty="0" err="1"/>
              <a:t>skimage.morphology.skeletonize</a:t>
            </a:r>
            <a:r>
              <a:rPr lang="en-US" dirty="0"/>
              <a:t>(), medial axis transform </a:t>
            </a:r>
          </a:p>
        </p:txBody>
      </p:sp>
    </p:spTree>
    <p:extLst>
      <p:ext uri="{BB962C8B-B14F-4D97-AF65-F5344CB8AC3E}">
        <p14:creationId xmlns:p14="http://schemas.microsoft.com/office/powerpoint/2010/main" val="3333796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6E252-F7E7-8678-ABB2-8DA47E1A7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EA52B-93F8-2D7D-822E-F268CD5D2063}"/>
              </a:ext>
            </a:extLst>
          </p:cNvPr>
          <p:cNvSpPr>
            <a:spLocks noGrp="1"/>
          </p:cNvSpPr>
          <p:nvPr>
            <p:ph type="title"/>
          </p:nvPr>
        </p:nvSpPr>
        <p:spPr/>
        <p:txBody>
          <a:bodyPr/>
          <a:lstStyle/>
          <a:p>
            <a:r>
              <a:rPr lang="en-US" dirty="0"/>
              <a:t>Possible Solution Framework</a:t>
            </a:r>
          </a:p>
        </p:txBody>
      </p:sp>
      <p:sp>
        <p:nvSpPr>
          <p:cNvPr id="3" name="Content Placeholder 2">
            <a:extLst>
              <a:ext uri="{FF2B5EF4-FFF2-40B4-BE49-F238E27FC236}">
                <a16:creationId xmlns:a16="http://schemas.microsoft.com/office/drawing/2014/main" id="{8814DE64-D1DA-646B-C3E7-56903D1443E3}"/>
              </a:ext>
            </a:extLst>
          </p:cNvPr>
          <p:cNvSpPr>
            <a:spLocks noGrp="1"/>
          </p:cNvSpPr>
          <p:nvPr>
            <p:ph idx="1"/>
          </p:nvPr>
        </p:nvSpPr>
        <p:spPr>
          <a:xfrm>
            <a:off x="838200" y="1825624"/>
            <a:ext cx="10515600" cy="4959223"/>
          </a:xfrm>
        </p:spPr>
        <p:txBody>
          <a:bodyPr>
            <a:normAutofit fontScale="92500" lnSpcReduction="10000"/>
          </a:bodyPr>
          <a:lstStyle/>
          <a:p>
            <a:r>
              <a:rPr lang="en-US" b="1" dirty="0"/>
              <a:t>Ring Pattern Enhancement</a:t>
            </a:r>
          </a:p>
          <a:p>
            <a:r>
              <a:rPr lang="en-US" b="1" dirty="0"/>
              <a:t>Possible methods:</a:t>
            </a:r>
            <a:endParaRPr lang="en-US" dirty="0"/>
          </a:p>
          <a:p>
            <a:pPr marL="914400" lvl="1" indent="-457200">
              <a:buFont typeface="+mj-lt"/>
              <a:buAutoNum type="arabicPeriod"/>
            </a:pPr>
            <a:r>
              <a:rPr lang="en-US" b="1" dirty="0"/>
              <a:t>CLAHE contrast enhancement</a:t>
            </a:r>
            <a:br>
              <a:rPr lang="en-US" dirty="0"/>
            </a:br>
            <a:r>
              <a:rPr lang="en-US" dirty="0"/>
              <a:t>Makes weak local patterns more visible.</a:t>
            </a:r>
            <a:br>
              <a:rPr lang="en-US" dirty="0"/>
            </a:br>
            <a:r>
              <a:rPr lang="en-US" dirty="0"/>
              <a:t>Function: cv2.createCLAHE() </a:t>
            </a:r>
          </a:p>
          <a:p>
            <a:pPr marL="914400" lvl="1" indent="-457200">
              <a:buFont typeface="+mj-lt"/>
              <a:buAutoNum type="arabicPeriod"/>
            </a:pPr>
            <a:r>
              <a:rPr lang="en-US" b="1" dirty="0"/>
              <a:t>Background illumination correction</a:t>
            </a:r>
            <a:br>
              <a:rPr lang="en-US" dirty="0"/>
            </a:br>
            <a:r>
              <a:rPr lang="en-US" dirty="0"/>
              <a:t>Removes uneven brightness across the shell before ring detection.</a:t>
            </a:r>
            <a:br>
              <a:rPr lang="en-US" dirty="0"/>
            </a:br>
            <a:r>
              <a:rPr lang="en-US" dirty="0"/>
              <a:t>Possible methods: Gaussian blur background subtraction, rolling-ball correction </a:t>
            </a:r>
          </a:p>
          <a:p>
            <a:pPr marL="914400" lvl="1" indent="-457200">
              <a:buFont typeface="+mj-lt"/>
              <a:buAutoNum type="arabicPeriod"/>
            </a:pPr>
            <a:r>
              <a:rPr lang="en-US" b="1" dirty="0"/>
              <a:t>Gabor filtering</a:t>
            </a:r>
            <a:br>
              <a:rPr lang="en-US" dirty="0"/>
            </a:br>
            <a:r>
              <a:rPr lang="en-US" dirty="0"/>
              <a:t>Enhances repeated stripe-like textures.</a:t>
            </a:r>
            <a:br>
              <a:rPr lang="en-US" dirty="0"/>
            </a:br>
            <a:r>
              <a:rPr lang="en-US" dirty="0"/>
              <a:t>Function: cv2.getGaborKernel() </a:t>
            </a:r>
          </a:p>
          <a:p>
            <a:pPr marL="914400" lvl="1" indent="-457200">
              <a:buFont typeface="+mj-lt"/>
              <a:buAutoNum type="arabicPeriod"/>
            </a:pPr>
            <a:r>
              <a:rPr lang="en-US" b="1" dirty="0" err="1"/>
              <a:t>Frangi</a:t>
            </a:r>
            <a:r>
              <a:rPr lang="en-US" b="1" dirty="0"/>
              <a:t> / Hessian filtering</a:t>
            </a:r>
            <a:br>
              <a:rPr lang="en-US" dirty="0"/>
            </a:br>
            <a:r>
              <a:rPr lang="en-US" dirty="0"/>
              <a:t>Enhances thin curved line-like structures.</a:t>
            </a:r>
            <a:br>
              <a:rPr lang="en-US" dirty="0"/>
            </a:br>
            <a:r>
              <a:rPr lang="en-US" dirty="0"/>
              <a:t>Package: </a:t>
            </a:r>
            <a:r>
              <a:rPr lang="en-US" dirty="0" err="1"/>
              <a:t>skimage.filters.frangi</a:t>
            </a:r>
            <a:endParaRPr lang="en-US" dirty="0"/>
          </a:p>
        </p:txBody>
      </p:sp>
    </p:spTree>
    <p:extLst>
      <p:ext uri="{BB962C8B-B14F-4D97-AF65-F5344CB8AC3E}">
        <p14:creationId xmlns:p14="http://schemas.microsoft.com/office/powerpoint/2010/main" val="2374243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827A-3216-D0D5-5C3C-D31051BB0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F6DD5-FDA8-466C-75DA-F0050F6B39BE}"/>
              </a:ext>
            </a:extLst>
          </p:cNvPr>
          <p:cNvSpPr>
            <a:spLocks noGrp="1"/>
          </p:cNvSpPr>
          <p:nvPr>
            <p:ph type="title"/>
          </p:nvPr>
        </p:nvSpPr>
        <p:spPr/>
        <p:txBody>
          <a:bodyPr/>
          <a:lstStyle/>
          <a:p>
            <a:r>
              <a:rPr lang="en-US" dirty="0"/>
              <a:t>Possible Solution Framework</a:t>
            </a:r>
          </a:p>
        </p:txBody>
      </p:sp>
      <p:sp>
        <p:nvSpPr>
          <p:cNvPr id="3" name="Content Placeholder 2">
            <a:extLst>
              <a:ext uri="{FF2B5EF4-FFF2-40B4-BE49-F238E27FC236}">
                <a16:creationId xmlns:a16="http://schemas.microsoft.com/office/drawing/2014/main" id="{064255FB-AE11-17B4-F5E1-4E87443ED2B1}"/>
              </a:ext>
            </a:extLst>
          </p:cNvPr>
          <p:cNvSpPr>
            <a:spLocks noGrp="1"/>
          </p:cNvSpPr>
          <p:nvPr>
            <p:ph idx="1"/>
          </p:nvPr>
        </p:nvSpPr>
        <p:spPr>
          <a:xfrm>
            <a:off x="838200" y="1825624"/>
            <a:ext cx="10515600" cy="4959223"/>
          </a:xfrm>
        </p:spPr>
        <p:txBody>
          <a:bodyPr>
            <a:normAutofit fontScale="92500" lnSpcReduction="20000"/>
          </a:bodyPr>
          <a:lstStyle/>
          <a:p>
            <a:r>
              <a:rPr lang="en-US" b="1" dirty="0"/>
              <a:t>Ring Candidate Detection</a:t>
            </a:r>
          </a:p>
          <a:p>
            <a:endParaRPr lang="en-US" b="1" dirty="0"/>
          </a:p>
          <a:p>
            <a:r>
              <a:rPr lang="en-US" b="1" dirty="0"/>
              <a:t>Possible methods:</a:t>
            </a:r>
            <a:endParaRPr lang="en-US" dirty="0"/>
          </a:p>
          <a:p>
            <a:pPr marL="914400" lvl="1" indent="-457200">
              <a:buFont typeface="+mj-lt"/>
              <a:buAutoNum type="arabicPeriod"/>
            </a:pPr>
            <a:r>
              <a:rPr lang="en-US" b="1" dirty="0"/>
              <a:t>Brightness profile valley detection</a:t>
            </a:r>
            <a:br>
              <a:rPr lang="en-US" dirty="0"/>
            </a:br>
            <a:r>
              <a:rPr lang="en-US" dirty="0"/>
              <a:t>Convert the curve into a 1D gray-value signal, then detect dark valleys as possible rings.</a:t>
            </a:r>
            <a:br>
              <a:rPr lang="en-US" dirty="0"/>
            </a:br>
            <a:r>
              <a:rPr lang="en-US" dirty="0"/>
              <a:t>Method: </a:t>
            </a:r>
            <a:r>
              <a:rPr lang="en-US" dirty="0" err="1"/>
              <a:t>scipy.signal.find_peaks</a:t>
            </a:r>
            <a:r>
              <a:rPr lang="en-US" dirty="0"/>
              <a:t>(-</a:t>
            </a:r>
            <a:r>
              <a:rPr lang="en-US" dirty="0" err="1"/>
              <a:t>gray_signal</a:t>
            </a:r>
            <a:r>
              <a:rPr lang="en-US" dirty="0"/>
              <a:t>) </a:t>
            </a:r>
          </a:p>
          <a:p>
            <a:pPr marL="914400" lvl="1" indent="-457200">
              <a:buFont typeface="+mj-lt"/>
              <a:buAutoNum type="arabicPeriod"/>
            </a:pPr>
            <a:r>
              <a:rPr lang="en-US" b="1" dirty="0"/>
              <a:t>Gradient peak detection</a:t>
            </a:r>
            <a:br>
              <a:rPr lang="en-US" dirty="0"/>
            </a:br>
            <a:r>
              <a:rPr lang="en-US" dirty="0"/>
              <a:t>Detect positions where brightness changes sharply along the curve.</a:t>
            </a:r>
            <a:br>
              <a:rPr lang="en-US" dirty="0"/>
            </a:br>
            <a:r>
              <a:rPr lang="en-US" dirty="0"/>
              <a:t>Methods: </a:t>
            </a:r>
            <a:r>
              <a:rPr lang="en-US" dirty="0" err="1"/>
              <a:t>np.gradient</a:t>
            </a:r>
            <a:r>
              <a:rPr lang="en-US" dirty="0"/>
              <a:t>(), cv2.Sobel() </a:t>
            </a:r>
          </a:p>
          <a:p>
            <a:pPr marL="914400" lvl="1" indent="-457200">
              <a:buFont typeface="+mj-lt"/>
              <a:buAutoNum type="arabicPeriod"/>
            </a:pPr>
            <a:r>
              <a:rPr lang="en-US" b="1" dirty="0"/>
              <a:t>Canny edge detection along the path</a:t>
            </a:r>
            <a:br>
              <a:rPr lang="en-US" dirty="0"/>
            </a:br>
            <a:r>
              <a:rPr lang="en-US" dirty="0"/>
              <a:t>Detect strong edge responses near the measurement curve.</a:t>
            </a:r>
            <a:br>
              <a:rPr lang="en-US" dirty="0"/>
            </a:br>
            <a:r>
              <a:rPr lang="en-US" dirty="0"/>
              <a:t>Method: cv2.Canny() </a:t>
            </a:r>
          </a:p>
          <a:p>
            <a:pPr marL="914400" lvl="1" indent="-457200">
              <a:buFont typeface="+mj-lt"/>
              <a:buAutoNum type="arabicPeriod"/>
            </a:pPr>
            <a:r>
              <a:rPr lang="en-US" b="1" dirty="0"/>
              <a:t>Local minima detection</a:t>
            </a:r>
            <a:br>
              <a:rPr lang="en-US" dirty="0"/>
            </a:br>
            <a:r>
              <a:rPr lang="en-US" dirty="0"/>
              <a:t>Directly find low-brightness points in the smoothed 1D profile.</a:t>
            </a:r>
            <a:br>
              <a:rPr lang="en-US" dirty="0"/>
            </a:br>
            <a:r>
              <a:rPr lang="en-US" dirty="0"/>
              <a:t>Methods: </a:t>
            </a:r>
            <a:r>
              <a:rPr lang="en-US" dirty="0" err="1"/>
              <a:t>scipy.signal.argrelextrema</a:t>
            </a:r>
            <a:r>
              <a:rPr lang="en-US" dirty="0"/>
              <a:t>(), </a:t>
            </a:r>
            <a:r>
              <a:rPr lang="en-US" dirty="0" err="1"/>
              <a:t>find_peaks</a:t>
            </a:r>
            <a:r>
              <a:rPr lang="en-US" dirty="0"/>
              <a:t>(-signal)</a:t>
            </a:r>
          </a:p>
        </p:txBody>
      </p:sp>
    </p:spTree>
    <p:extLst>
      <p:ext uri="{BB962C8B-B14F-4D97-AF65-F5344CB8AC3E}">
        <p14:creationId xmlns:p14="http://schemas.microsoft.com/office/powerpoint/2010/main" val="4025978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0D4E6FEEC0D324DA83C8DE849B4616D" ma:contentTypeVersion="11" ma:contentTypeDescription="Create a new document." ma:contentTypeScope="" ma:versionID="80e56038befe5c14d20dce9e9e9faec1">
  <xsd:schema xmlns:xsd="http://www.w3.org/2001/XMLSchema" xmlns:xs="http://www.w3.org/2001/XMLSchema" xmlns:p="http://schemas.microsoft.com/office/2006/metadata/properties" xmlns:ns3="4fa796ec-5b90-4e4c-8693-4c630a4379fe" targetNamespace="http://schemas.microsoft.com/office/2006/metadata/properties" ma:root="true" ma:fieldsID="a3f21a5f121616e94ff7355baaec69ab" ns3:_="">
    <xsd:import namespace="4fa796ec-5b90-4e4c-8693-4c630a4379f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a796ec-5b90-4e4c-8693-4c630a4379f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fa796ec-5b90-4e4c-8693-4c630a4379fe" xsi:nil="true"/>
  </documentManagement>
</p:properties>
</file>

<file path=customXml/itemProps1.xml><?xml version="1.0" encoding="utf-8"?>
<ds:datastoreItem xmlns:ds="http://schemas.openxmlformats.org/officeDocument/2006/customXml" ds:itemID="{DB5FBDA4-1396-45D5-9B71-4C8D84D8E40C}">
  <ds:schemaRefs>
    <ds:schemaRef ds:uri="http://schemas.microsoft.com/sharepoint/v3/contenttype/forms"/>
  </ds:schemaRefs>
</ds:datastoreItem>
</file>

<file path=customXml/itemProps2.xml><?xml version="1.0" encoding="utf-8"?>
<ds:datastoreItem xmlns:ds="http://schemas.openxmlformats.org/officeDocument/2006/customXml" ds:itemID="{417C2883-A6A6-4ED9-88C2-F34AE8AD8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a796ec-5b90-4e4c-8693-4c630a4379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6DE8A8D-4E5E-4355-943C-E909B302993C}">
  <ds:schemaRefs>
    <ds:schemaRef ds:uri="4fa796ec-5b90-4e4c-8693-4c630a4379fe"/>
    <ds:schemaRef ds:uri="http://schemas.microsoft.com/office/2006/documentManagement/types"/>
    <ds:schemaRef ds:uri="http://purl.org/dc/elements/1.1/"/>
    <ds:schemaRef ds:uri="http://www.w3.org/XML/1998/namespace"/>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755</TotalTime>
  <Words>1555</Words>
  <Application>Microsoft Office PowerPoint</Application>
  <PresentationFormat>Widescreen</PresentationFormat>
  <Paragraphs>119</Paragraphs>
  <Slides>15</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Wingdings</vt:lpstr>
      <vt:lpstr>Office Theme</vt:lpstr>
      <vt:lpstr>Automated Measurement of Surf Clam Growth Rings from Shell Images</vt:lpstr>
      <vt:lpstr>Surf Clam Growth Rings Record Growth History</vt:lpstr>
      <vt:lpstr>Manual Measurement Is Accurate but Time-Consuming</vt:lpstr>
      <vt:lpstr>Dataset Overview: Surf Clam Shell Images and Growth-Increment Labels</vt:lpstr>
      <vt:lpstr>Understanding the Available Labels</vt:lpstr>
      <vt:lpstr>Challenge 2: Limited Training Data</vt:lpstr>
      <vt:lpstr>Challenge 3: Image-Level Difficulties</vt:lpstr>
      <vt:lpstr>Current Workflow</vt:lpstr>
      <vt:lpstr>Results</vt:lpstr>
      <vt:lpstr>Other Potential Methods</vt:lpstr>
      <vt:lpstr>Trying Large Models</vt:lpstr>
      <vt:lpstr>Possible Solution Framework</vt:lpstr>
      <vt:lpstr>Possible Solution Framework</vt:lpstr>
      <vt:lpstr>Possible Solution Framework</vt:lpstr>
      <vt:lpstr>Possible Solution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heng lian</dc:creator>
  <cp:lastModifiedBy>Lian, Heng</cp:lastModifiedBy>
  <cp:revision>3</cp:revision>
  <dcterms:created xsi:type="dcterms:W3CDTF">2026-05-28T18:59:59Z</dcterms:created>
  <dcterms:modified xsi:type="dcterms:W3CDTF">2026-05-30T01:47:29Z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0x01010050D4E6FEEC0D324DA83C8DE849B4616D</vt:lpwstr>
  </property>
</Properties>
</file>